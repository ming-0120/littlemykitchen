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1" r:id="rId2"/>
    <p:sldId id="272" r:id="rId3"/>
    <p:sldId id="273" r:id="rId4"/>
    <p:sldId id="292" r:id="rId5"/>
    <p:sldId id="295" r:id="rId6"/>
    <p:sldId id="294" r:id="rId7"/>
    <p:sldId id="296" r:id="rId8"/>
    <p:sldId id="270" r:id="rId9"/>
    <p:sldId id="297" r:id="rId10"/>
    <p:sldId id="298" r:id="rId11"/>
    <p:sldId id="299" r:id="rId12"/>
    <p:sldId id="300" r:id="rId13"/>
    <p:sldId id="301" r:id="rId14"/>
    <p:sldId id="302" r:id="rId15"/>
    <p:sldId id="303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DEB4"/>
    <a:srgbClr val="F9FBEB"/>
    <a:srgbClr val="B6B8B8"/>
    <a:srgbClr val="F5F9DF"/>
    <a:srgbClr val="224D60"/>
    <a:srgbClr val="F9FCFD"/>
    <a:srgbClr val="F2F2F2"/>
    <a:srgbClr val="718EA0"/>
    <a:srgbClr val="6C899B"/>
    <a:srgbClr val="F3F9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C99DA7-81BA-4981-828F-85AB7D253925}" v="37" dt="2025-10-26T05:49:52.6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77" y="10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5028@naver.com" userId="b35565e668a20cbf" providerId="LiveId" clId="{D9CBB809-19B0-4A6E-970F-45F5339DFF97}"/>
    <pc:docChg chg="undo custSel modSld">
      <pc:chgData name="sarah5028@naver.com" userId="b35565e668a20cbf" providerId="LiveId" clId="{D9CBB809-19B0-4A6E-970F-45F5339DFF97}" dt="2025-10-26T05:50:03.675" v="267" actId="14100"/>
      <pc:docMkLst>
        <pc:docMk/>
      </pc:docMkLst>
      <pc:sldChg chg="modSp mod">
        <pc:chgData name="sarah5028@naver.com" userId="b35565e668a20cbf" providerId="LiveId" clId="{D9CBB809-19B0-4A6E-970F-45F5339DFF97}" dt="2025-10-26T05:42:28.907" v="91" actId="113"/>
        <pc:sldMkLst>
          <pc:docMk/>
          <pc:sldMk cId="4107778872" sldId="270"/>
        </pc:sldMkLst>
        <pc:graphicFrameChg chg="mod modGraphic">
          <ac:chgData name="sarah5028@naver.com" userId="b35565e668a20cbf" providerId="LiveId" clId="{D9CBB809-19B0-4A6E-970F-45F5339DFF97}" dt="2025-10-26T05:42:28.907" v="91" actId="113"/>
          <ac:graphicFrameMkLst>
            <pc:docMk/>
            <pc:sldMk cId="4107778872" sldId="270"/>
            <ac:graphicFrameMk id="12" creationId="{DB86834A-9E70-8587-B43A-68A3C53340DA}"/>
          </ac:graphicFrameMkLst>
        </pc:graphicFrameChg>
      </pc:sldChg>
      <pc:sldChg chg="delSp modSp mod">
        <pc:chgData name="sarah5028@naver.com" userId="b35565e668a20cbf" providerId="LiveId" clId="{D9CBB809-19B0-4A6E-970F-45F5339DFF97}" dt="2025-10-26T05:50:03.675" v="267" actId="14100"/>
        <pc:sldMkLst>
          <pc:docMk/>
          <pc:sldMk cId="246027040" sldId="297"/>
        </pc:sldMkLst>
        <pc:spChg chg="mod">
          <ac:chgData name="sarah5028@naver.com" userId="b35565e668a20cbf" providerId="LiveId" clId="{D9CBB809-19B0-4A6E-970F-45F5339DFF97}" dt="2025-10-26T05:41:59.211" v="85" actId="14100"/>
          <ac:spMkLst>
            <pc:docMk/>
            <pc:sldMk cId="246027040" sldId="297"/>
            <ac:spMk id="6" creationId="{AEF1B5D0-5062-AAB7-17EB-A73E164BD33B}"/>
          </ac:spMkLst>
        </pc:spChg>
        <pc:spChg chg="mod">
          <ac:chgData name="sarah5028@naver.com" userId="b35565e668a20cbf" providerId="LiveId" clId="{D9CBB809-19B0-4A6E-970F-45F5339DFF97}" dt="2025-10-26T05:42:04.729" v="87" actId="1076"/>
          <ac:spMkLst>
            <pc:docMk/>
            <pc:sldMk cId="246027040" sldId="297"/>
            <ac:spMk id="11" creationId="{B270FBA7-2A0A-A3CD-1DAE-6C54940177B6}"/>
          </ac:spMkLst>
        </pc:spChg>
        <pc:spChg chg="mod">
          <ac:chgData name="sarah5028@naver.com" userId="b35565e668a20cbf" providerId="LiveId" clId="{D9CBB809-19B0-4A6E-970F-45F5339DFF97}" dt="2025-10-26T05:42:09.066" v="88" actId="1076"/>
          <ac:spMkLst>
            <pc:docMk/>
            <pc:sldMk cId="246027040" sldId="297"/>
            <ac:spMk id="13" creationId="{831AA3D3-5B8A-07A7-54C4-9FCD29578413}"/>
          </ac:spMkLst>
        </pc:spChg>
        <pc:spChg chg="mod">
          <ac:chgData name="sarah5028@naver.com" userId="b35565e668a20cbf" providerId="LiveId" clId="{D9CBB809-19B0-4A6E-970F-45F5339DFF97}" dt="2025-10-26T05:42:02.071" v="86" actId="1076"/>
          <ac:spMkLst>
            <pc:docMk/>
            <pc:sldMk cId="246027040" sldId="297"/>
            <ac:spMk id="15" creationId="{E8805562-3BA8-45DF-0E8B-2282BCB4B0C8}"/>
          </ac:spMkLst>
        </pc:spChg>
        <pc:spChg chg="mod">
          <ac:chgData name="sarah5028@naver.com" userId="b35565e668a20cbf" providerId="LiveId" clId="{D9CBB809-19B0-4A6E-970F-45F5339DFF97}" dt="2025-10-26T05:42:11.413" v="89" actId="14100"/>
          <ac:spMkLst>
            <pc:docMk/>
            <pc:sldMk cId="246027040" sldId="297"/>
            <ac:spMk id="16" creationId="{18A2F85D-4A1A-89F2-E6E9-082AFF5D5F44}"/>
          </ac:spMkLst>
        </pc:spChg>
        <pc:spChg chg="del">
          <ac:chgData name="sarah5028@naver.com" userId="b35565e668a20cbf" providerId="LiveId" clId="{D9CBB809-19B0-4A6E-970F-45F5339DFF97}" dt="2025-10-26T05:49:59.835" v="266" actId="478"/>
          <ac:spMkLst>
            <pc:docMk/>
            <pc:sldMk cId="246027040" sldId="297"/>
            <ac:spMk id="39" creationId="{F9405869-85CC-BB55-6878-C24000ADB903}"/>
          </ac:spMkLst>
        </pc:spChg>
        <pc:graphicFrameChg chg="mod modGraphic">
          <ac:chgData name="sarah5028@naver.com" userId="b35565e668a20cbf" providerId="LiveId" clId="{D9CBB809-19B0-4A6E-970F-45F5339DFF97}" dt="2025-10-26T05:50:03.675" v="267" actId="14100"/>
          <ac:graphicFrameMkLst>
            <pc:docMk/>
            <pc:sldMk cId="246027040" sldId="297"/>
            <ac:graphicFrameMk id="5" creationId="{F8A91E2E-074B-2C27-A40A-C1E161F07BED}"/>
          </ac:graphicFrameMkLst>
        </pc:graphicFrameChg>
      </pc:sldChg>
      <pc:sldChg chg="modSp mod">
        <pc:chgData name="sarah5028@naver.com" userId="b35565e668a20cbf" providerId="LiveId" clId="{D9CBB809-19B0-4A6E-970F-45F5339DFF97}" dt="2025-10-26T05:45:20.960" v="133" actId="20577"/>
        <pc:sldMkLst>
          <pc:docMk/>
          <pc:sldMk cId="2263278419" sldId="298"/>
        </pc:sldMkLst>
        <pc:graphicFrameChg chg="mod modGraphic">
          <ac:chgData name="sarah5028@naver.com" userId="b35565e668a20cbf" providerId="LiveId" clId="{D9CBB809-19B0-4A6E-970F-45F5339DFF97}" dt="2025-10-26T05:45:20.960" v="133" actId="20577"/>
          <ac:graphicFrameMkLst>
            <pc:docMk/>
            <pc:sldMk cId="2263278419" sldId="298"/>
            <ac:graphicFrameMk id="5" creationId="{A0ED39D5-C6F6-56F4-7CCC-89173472A306}"/>
          </ac:graphicFrameMkLst>
        </pc:graphicFrameChg>
      </pc:sldChg>
      <pc:sldChg chg="modSp mod">
        <pc:chgData name="sarah5028@naver.com" userId="b35565e668a20cbf" providerId="LiveId" clId="{D9CBB809-19B0-4A6E-970F-45F5339DFF97}" dt="2025-10-26T05:49:39.223" v="264"/>
        <pc:sldMkLst>
          <pc:docMk/>
          <pc:sldMk cId="3491434574" sldId="299"/>
        </pc:sldMkLst>
        <pc:spChg chg="mod">
          <ac:chgData name="sarah5028@naver.com" userId="b35565e668a20cbf" providerId="LiveId" clId="{D9CBB809-19B0-4A6E-970F-45F5339DFF97}" dt="2025-10-26T05:46:35.442" v="164" actId="14100"/>
          <ac:spMkLst>
            <pc:docMk/>
            <pc:sldMk cId="3491434574" sldId="299"/>
            <ac:spMk id="6" creationId="{DF4A2C4E-EDA3-2490-072E-6C6DB904980B}"/>
          </ac:spMkLst>
        </pc:spChg>
        <pc:graphicFrameChg chg="mod modGraphic">
          <ac:chgData name="sarah5028@naver.com" userId="b35565e668a20cbf" providerId="LiveId" clId="{D9CBB809-19B0-4A6E-970F-45F5339DFF97}" dt="2025-10-26T05:49:39.223" v="264"/>
          <ac:graphicFrameMkLst>
            <pc:docMk/>
            <pc:sldMk cId="3491434574" sldId="299"/>
            <ac:graphicFrameMk id="5" creationId="{8AC7520E-4C7B-2EB2-C679-5174DD7DF077}"/>
          </ac:graphicFrameMkLst>
        </pc:graphicFrameChg>
      </pc:sldChg>
      <pc:sldChg chg="modSp mod">
        <pc:chgData name="sarah5028@naver.com" userId="b35565e668a20cbf" providerId="LiveId" clId="{D9CBB809-19B0-4A6E-970F-45F5339DFF97}" dt="2025-10-26T05:47:31.526" v="217"/>
        <pc:sldMkLst>
          <pc:docMk/>
          <pc:sldMk cId="4263705721" sldId="300"/>
        </pc:sldMkLst>
        <pc:graphicFrameChg chg="mod modGraphic">
          <ac:chgData name="sarah5028@naver.com" userId="b35565e668a20cbf" providerId="LiveId" clId="{D9CBB809-19B0-4A6E-970F-45F5339DFF97}" dt="2025-10-26T05:47:31.526" v="217"/>
          <ac:graphicFrameMkLst>
            <pc:docMk/>
            <pc:sldMk cId="4263705721" sldId="300"/>
            <ac:graphicFrameMk id="5" creationId="{BA104461-3F69-5EB5-4C61-BC8DDF1DF3FC}"/>
          </ac:graphicFrameMkLst>
        </pc:graphicFrameChg>
      </pc:sldChg>
      <pc:sldChg chg="modSp mod">
        <pc:chgData name="sarah5028@naver.com" userId="b35565e668a20cbf" providerId="LiveId" clId="{D9CBB809-19B0-4A6E-970F-45F5339DFF97}" dt="2025-10-26T05:49:26.501" v="263"/>
        <pc:sldMkLst>
          <pc:docMk/>
          <pc:sldMk cId="1633085942" sldId="301"/>
        </pc:sldMkLst>
        <pc:graphicFrameChg chg="mod modGraphic">
          <ac:chgData name="sarah5028@naver.com" userId="b35565e668a20cbf" providerId="LiveId" clId="{D9CBB809-19B0-4A6E-970F-45F5339DFF97}" dt="2025-10-26T05:49:26.501" v="263"/>
          <ac:graphicFrameMkLst>
            <pc:docMk/>
            <pc:sldMk cId="1633085942" sldId="301"/>
            <ac:graphicFrameMk id="5" creationId="{D00FF4C7-5757-5398-134F-C4E3B86460A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7AF952-64EF-4037-93E9-E9C018EE319B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AF9CBB-701D-4676-9856-E51BD3DE35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607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F9CBB-701D-4676-9856-E51BD3DE35D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923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F9CBB-701D-4676-9856-E51BD3DE35D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444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D90640-7EB0-BE1D-FA8A-7A3A60D87864}"/>
              </a:ext>
            </a:extLst>
          </p:cNvPr>
          <p:cNvSpPr txBox="1"/>
          <p:nvPr userDrawn="1"/>
        </p:nvSpPr>
        <p:spPr>
          <a:xfrm>
            <a:off x="9998245" y="6501660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0A8D6C-2166-C593-56DA-F8BC31AF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5193-41CD-4063-B0C7-05E32D5C3CCF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3355A0-B053-055C-A48D-03DCA498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A9E0C0-C208-C880-12BC-22614B99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54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D90640-7EB0-BE1D-FA8A-7A3A60D87864}"/>
              </a:ext>
            </a:extLst>
          </p:cNvPr>
          <p:cNvSpPr txBox="1"/>
          <p:nvPr userDrawn="1"/>
        </p:nvSpPr>
        <p:spPr>
          <a:xfrm>
            <a:off x="9982200" y="6501660"/>
            <a:ext cx="219483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ⓒSaebyeol Yu.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Saebyeol’s</a:t>
            </a:r>
            <a:r>
              <a:rPr lang="ko-KR" alt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PowerPoint</a:t>
            </a:r>
            <a:endParaRPr lang="ko-KR" altLang="en-US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C0A8D6C-2166-C593-56DA-F8BC31AF5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2F5193-41CD-4063-B0C7-05E32D5C3CCF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3355A0-B053-055C-A48D-03DCA498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A9E0C0-C208-C880-12BC-22614B99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A778-E908-4432-BB93-29EAA93A6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57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2A1902-5E0F-4C85-6B9B-CFB8C95C2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24FC5-232C-D503-51B2-2388BA704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D67C67-55AD-BA6E-8404-A37284FE8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2F5193-41CD-4063-B0C7-05E32D5C3CCF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847630-7AE5-2706-2404-F94D6A4CF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DA98C0-863E-3233-E6CC-C61C5150E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1A778-E908-4432-BB93-29EAA93A69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667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enerativelanguage.googleapis.com/v1beta/models/$%7bMODEL_NAME%7d:streamGenerateContent?key=$%7bAPI_KEY" TargetMode="External"/><Relationship Id="rId2" Type="http://schemas.openxmlformats.org/officeDocument/2006/relationships/hyperlink" Target="http://openapi.foodsafetykorea.go.kr/api/$%7bapi_key%7d/COOKRCP01/json/1/30/RCP_NM=$%7bsearch_val%7d&amp;RCP_PARTS_DTLS=$%7bsearch_va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1605836-0BF1-4478-B43D-3C7627325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C86784-A8CA-8DB6-63D7-B52A1A93C2D6}"/>
              </a:ext>
            </a:extLst>
          </p:cNvPr>
          <p:cNvSpPr txBox="1"/>
          <p:nvPr/>
        </p:nvSpPr>
        <p:spPr>
          <a:xfrm>
            <a:off x="475381" y="320841"/>
            <a:ext cx="8577709" cy="2369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6600" b="1" spc="-150" dirty="0" err="1">
                <a:latin typeface="+mj-ea"/>
                <a:ea typeface="+mj-ea"/>
              </a:rPr>
              <a:t>MyWeb</a:t>
            </a:r>
            <a:r>
              <a:rPr lang="ko-KR" altLang="en-US" sz="6600" b="1" spc="-150" dirty="0">
                <a:latin typeface="+mj-ea"/>
                <a:ea typeface="+mj-ea"/>
              </a:rPr>
              <a:t> 기획서</a:t>
            </a:r>
            <a:endParaRPr lang="en-US" altLang="ko-KR" sz="6600" b="1" spc="-150" dirty="0">
              <a:latin typeface="+mj-ea"/>
              <a:ea typeface="+mj-ea"/>
            </a:endParaRPr>
          </a:p>
          <a:p>
            <a:endParaRPr lang="ko-KR" altLang="en-US" sz="6600" b="1" spc="-150" dirty="0">
              <a:latin typeface="+mj-ea"/>
              <a:ea typeface="+mj-ea"/>
            </a:endParaRPr>
          </a:p>
          <a:p>
            <a:r>
              <a:rPr lang="en-US" altLang="ko-KR" sz="1600" spc="-150" dirty="0" err="1">
                <a:latin typeface="+mj-ea"/>
                <a:ea typeface="+mj-ea"/>
              </a:rPr>
              <a:t>부제</a:t>
            </a:r>
            <a:r>
              <a:rPr lang="en-US" altLang="ko-KR" sz="1600" spc="-150" dirty="0">
                <a:latin typeface="+mj-ea"/>
                <a:ea typeface="+mj-ea"/>
              </a:rPr>
              <a:t> : </a:t>
            </a:r>
            <a:r>
              <a:rPr lang="en-US" altLang="ko-KR" sz="1600" spc="-150" dirty="0" err="1">
                <a:latin typeface="+mj-ea"/>
                <a:ea typeface="+mj-ea"/>
              </a:rPr>
              <a:t>자취생의</a:t>
            </a:r>
            <a:r>
              <a:rPr lang="en-US" altLang="ko-KR" sz="1600" spc="-150" dirty="0">
                <a:latin typeface="+mj-ea"/>
                <a:ea typeface="+mj-ea"/>
              </a:rPr>
              <a:t> </a:t>
            </a:r>
            <a:r>
              <a:rPr lang="en-US" altLang="ko-KR" sz="1600" spc="-150" dirty="0" err="1">
                <a:latin typeface="+mj-ea"/>
                <a:ea typeface="+mj-ea"/>
              </a:rPr>
              <a:t>부엌</a:t>
            </a:r>
            <a:endParaRPr lang="en-US" altLang="ko-KR" sz="1600" spc="-150" dirty="0">
              <a:latin typeface="+mj-ea"/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BF9CB2-4AC1-636A-A410-BAE86C8AA587}"/>
              </a:ext>
            </a:extLst>
          </p:cNvPr>
          <p:cNvSpPr txBox="1"/>
          <p:nvPr/>
        </p:nvSpPr>
        <p:spPr>
          <a:xfrm>
            <a:off x="513347" y="2903620"/>
            <a:ext cx="20313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최초 작성일</a:t>
            </a:r>
            <a:r>
              <a:rPr lang="en-US" altLang="ko-KR" sz="1400" dirty="0"/>
              <a:t>: 2025.10.16</a:t>
            </a:r>
            <a:endParaRPr lang="ko-KR" altLang="en-US" sz="1400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1CF0A38-348A-5997-4882-2DE33DCA9E0D}"/>
              </a:ext>
            </a:extLst>
          </p:cNvPr>
          <p:cNvCxnSpPr>
            <a:cxnSpLocks/>
          </p:cNvCxnSpPr>
          <p:nvPr/>
        </p:nvCxnSpPr>
        <p:spPr>
          <a:xfrm>
            <a:off x="259347" y="2776354"/>
            <a:ext cx="11700000" cy="0"/>
          </a:xfrm>
          <a:prstGeom prst="line">
            <a:avLst/>
          </a:prstGeom>
          <a:ln w="3175"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4400277-9685-9FD5-AA2B-12F9F29C4FB8}"/>
              </a:ext>
            </a:extLst>
          </p:cNvPr>
          <p:cNvSpPr txBox="1"/>
          <p:nvPr/>
        </p:nvSpPr>
        <p:spPr>
          <a:xfrm>
            <a:off x="8926286" y="5061856"/>
            <a:ext cx="31024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ko-KR" altLang="en-US" dirty="0"/>
              <a:t>KDT </a:t>
            </a:r>
            <a:r>
              <a:rPr lang="ko-KR" altLang="en-US" dirty="0" err="1"/>
              <a:t>랭체인</a:t>
            </a:r>
            <a:r>
              <a:rPr lang="ko-KR" altLang="en-US" dirty="0"/>
              <a:t> 과정 수강생</a:t>
            </a:r>
          </a:p>
          <a:p>
            <a:pPr algn="r"/>
            <a:r>
              <a:rPr lang="ko-KR" altLang="en-US" dirty="0"/>
              <a:t>강민경</a:t>
            </a:r>
          </a:p>
        </p:txBody>
      </p:sp>
    </p:spTree>
    <p:extLst>
      <p:ext uri="{BB962C8B-B14F-4D97-AF65-F5344CB8AC3E}">
        <p14:creationId xmlns:p14="http://schemas.microsoft.com/office/powerpoint/2010/main" val="3929628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FE7CFA14-32EB-6D2C-E88D-1F73A24CBB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0556D73-1E91-8F00-C015-445AC64F4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426251"/>
              </p:ext>
            </p:extLst>
          </p:nvPr>
        </p:nvGraphicFramePr>
        <p:xfrm>
          <a:off x="659756" y="1307939"/>
          <a:ext cx="11024812" cy="53113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7371">
                  <a:extLst>
                    <a:ext uri="{9D8B030D-6E8A-4147-A177-3AD203B41FA5}">
                      <a16:colId xmlns:a16="http://schemas.microsoft.com/office/drawing/2014/main" val="3848214232"/>
                    </a:ext>
                  </a:extLst>
                </a:gridCol>
                <a:gridCol w="1699344">
                  <a:extLst>
                    <a:ext uri="{9D8B030D-6E8A-4147-A177-3AD203B41FA5}">
                      <a16:colId xmlns:a16="http://schemas.microsoft.com/office/drawing/2014/main" val="1710052281"/>
                    </a:ext>
                  </a:extLst>
                </a:gridCol>
                <a:gridCol w="6501276">
                  <a:extLst>
                    <a:ext uri="{9D8B030D-6E8A-4147-A177-3AD203B41FA5}">
                      <a16:colId xmlns:a16="http://schemas.microsoft.com/office/drawing/2014/main" val="2025165887"/>
                    </a:ext>
                  </a:extLst>
                </a:gridCol>
                <a:gridCol w="1956821">
                  <a:extLst>
                    <a:ext uri="{9D8B030D-6E8A-4147-A177-3AD203B41FA5}">
                      <a16:colId xmlns:a16="http://schemas.microsoft.com/office/drawing/2014/main" val="4111557255"/>
                    </a:ext>
                  </a:extLst>
                </a:gridCol>
              </a:tblGrid>
              <a:tr h="3319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/>
                        <a:t>버</a:t>
                      </a:r>
                      <a:r>
                        <a:rPr lang="ko-KR" altLang="en-US" sz="900" b="1" dirty="0"/>
                        <a:t> 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/>
                        <a:t>일 자</a:t>
                      </a:r>
                      <a:endParaRPr lang="ko-KR" altLang="en-US" sz="900" b="1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작성자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51040"/>
                  </a:ext>
                </a:extLst>
              </a:tr>
              <a:tr h="3319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1.0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2025</a:t>
                      </a:r>
                      <a:r>
                        <a:rPr lang="ko-KR" altLang="en-US" sz="1200" dirty="0"/>
                        <a:t>년 </a:t>
                      </a:r>
                      <a:r>
                        <a:rPr lang="en-US" altLang="ko-KR" sz="1200" dirty="0"/>
                        <a:t>10</a:t>
                      </a:r>
                      <a:r>
                        <a:rPr lang="ko-KR" altLang="en-US" sz="1200" dirty="0"/>
                        <a:t>월 </a:t>
                      </a:r>
                      <a:r>
                        <a:rPr lang="en-US" altLang="ko-KR" sz="1200" dirty="0"/>
                        <a:t>20</a:t>
                      </a:r>
                      <a:r>
                        <a:rPr lang="ko-KR" altLang="en-US" sz="1200" dirty="0"/>
                        <a:t>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/>
                        <a:t>플로우차트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초안 작성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강민경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993860"/>
                  </a:ext>
                </a:extLst>
              </a:tr>
              <a:tr h="3319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1.1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2025</a:t>
                      </a:r>
                      <a:r>
                        <a:rPr lang="ko-KR" altLang="en-US" sz="1200" dirty="0"/>
                        <a:t>년 </a:t>
                      </a:r>
                      <a:r>
                        <a:rPr lang="en-US" altLang="ko-KR" sz="1200" dirty="0"/>
                        <a:t>10</a:t>
                      </a:r>
                      <a:r>
                        <a:rPr lang="ko-KR" altLang="en-US" sz="1200" dirty="0"/>
                        <a:t>월 </a:t>
                      </a:r>
                      <a:r>
                        <a:rPr lang="en-US" altLang="ko-KR" sz="1200" dirty="0"/>
                        <a:t>22</a:t>
                      </a:r>
                      <a:r>
                        <a:rPr lang="ko-KR" altLang="en-US" sz="1200" dirty="0"/>
                        <a:t>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/>
                        <a:t>플로우차트</a:t>
                      </a:r>
                      <a:r>
                        <a:rPr lang="ko-KR" altLang="en-US" sz="1200" dirty="0"/>
                        <a:t> 수정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 err="1"/>
                        <a:t>사이트맵</a:t>
                      </a:r>
                      <a:r>
                        <a:rPr lang="en-US" altLang="ko-KR" sz="1200" dirty="0"/>
                        <a:t>,</a:t>
                      </a:r>
                      <a:r>
                        <a:rPr lang="ko-KR" altLang="en-US" sz="1200" dirty="0"/>
                        <a:t> 스토리보드 초안 작성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강민경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626251"/>
                  </a:ext>
                </a:extLst>
              </a:tr>
              <a:tr h="3319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1.2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2025</a:t>
                      </a:r>
                      <a:r>
                        <a:rPr lang="ko-KR" altLang="en-US" sz="1200" dirty="0"/>
                        <a:t>년 </a:t>
                      </a:r>
                      <a:r>
                        <a:rPr lang="en-US" altLang="ko-KR" sz="1200" dirty="0"/>
                        <a:t>10</a:t>
                      </a:r>
                      <a:r>
                        <a:rPr lang="ko-KR" altLang="en-US" sz="1200" dirty="0"/>
                        <a:t>월 </a:t>
                      </a:r>
                      <a:r>
                        <a:rPr lang="en-US" altLang="ko-KR" sz="1200" dirty="0"/>
                        <a:t>23</a:t>
                      </a:r>
                      <a:r>
                        <a:rPr lang="ko-KR" altLang="en-US" sz="1200" dirty="0"/>
                        <a:t>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/>
                        <a:t>사이트맵</a:t>
                      </a:r>
                      <a:r>
                        <a:rPr lang="en-US" altLang="ko-KR" sz="1200" dirty="0"/>
                        <a:t>,</a:t>
                      </a:r>
                      <a:r>
                        <a:rPr lang="ko-KR" altLang="en-US" sz="1200" dirty="0"/>
                        <a:t> 스토리보드 수정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강민경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100422"/>
                  </a:ext>
                </a:extLst>
              </a:tr>
              <a:tr h="3319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1.3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2025</a:t>
                      </a:r>
                      <a:r>
                        <a:rPr lang="ko-KR" altLang="en-US" sz="1200" dirty="0"/>
                        <a:t>년 </a:t>
                      </a:r>
                      <a:r>
                        <a:rPr lang="en-US" altLang="ko-KR" sz="1200" dirty="0"/>
                        <a:t>10</a:t>
                      </a:r>
                      <a:r>
                        <a:rPr lang="ko-KR" altLang="en-US" sz="1200" dirty="0"/>
                        <a:t>월 </a:t>
                      </a:r>
                      <a:r>
                        <a:rPr lang="en-US" altLang="ko-KR" sz="1200" dirty="0"/>
                        <a:t>25</a:t>
                      </a:r>
                      <a:r>
                        <a:rPr lang="ko-KR" altLang="en-US" sz="1200" dirty="0"/>
                        <a:t>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/>
                        <a:t>플로우차트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 err="1"/>
                        <a:t>사이트맵</a:t>
                      </a:r>
                      <a:r>
                        <a:rPr lang="en-US" altLang="ko-KR" sz="1200" dirty="0"/>
                        <a:t>,</a:t>
                      </a:r>
                      <a:r>
                        <a:rPr lang="ko-KR" altLang="en-US" sz="1200" dirty="0"/>
                        <a:t> 스토리보드 수정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강민경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936861"/>
                  </a:ext>
                </a:extLst>
              </a:tr>
              <a:tr h="3319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1.4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2025</a:t>
                      </a:r>
                      <a:r>
                        <a:rPr lang="ko-KR" altLang="en-US" sz="1200" dirty="0"/>
                        <a:t>년 </a:t>
                      </a:r>
                      <a:r>
                        <a:rPr lang="en-US" altLang="ko-KR" sz="1200" dirty="0"/>
                        <a:t>10</a:t>
                      </a:r>
                      <a:r>
                        <a:rPr lang="ko-KR" altLang="en-US" sz="1200" dirty="0"/>
                        <a:t>월 </a:t>
                      </a:r>
                      <a:r>
                        <a:rPr lang="en-US" altLang="ko-KR" sz="1200" dirty="0"/>
                        <a:t>26</a:t>
                      </a:r>
                      <a:r>
                        <a:rPr lang="ko-KR" altLang="en-US" sz="1200" dirty="0"/>
                        <a:t>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스토리보드 수정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강민경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4876624"/>
                  </a:ext>
                </a:extLst>
              </a:tr>
              <a:tr h="331957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5821079"/>
                  </a:ext>
                </a:extLst>
              </a:tr>
              <a:tr h="331957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572429"/>
                  </a:ext>
                </a:extLst>
              </a:tr>
              <a:tr h="331957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156787"/>
                  </a:ext>
                </a:extLst>
              </a:tr>
              <a:tr h="331957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298092"/>
                  </a:ext>
                </a:extLst>
              </a:tr>
              <a:tr h="331957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378143"/>
                  </a:ext>
                </a:extLst>
              </a:tr>
              <a:tr h="331957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895005"/>
                  </a:ext>
                </a:extLst>
              </a:tr>
              <a:tr h="331957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159800"/>
                  </a:ext>
                </a:extLst>
              </a:tr>
              <a:tr h="331957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195259"/>
                  </a:ext>
                </a:extLst>
              </a:tr>
              <a:tr h="331957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259705"/>
                  </a:ext>
                </a:extLst>
              </a:tr>
              <a:tr h="331957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285387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1E197EF-41B2-DFA2-8B5E-035803ED6600}"/>
              </a:ext>
            </a:extLst>
          </p:cNvPr>
          <p:cNvSpPr txBox="1"/>
          <p:nvPr/>
        </p:nvSpPr>
        <p:spPr>
          <a:xfrm flipH="1">
            <a:off x="133496" y="164386"/>
            <a:ext cx="48731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b="1" spc="-300" dirty="0">
                <a:latin typeface="+mj-ea"/>
                <a:ea typeface="+mj-ea"/>
              </a:rPr>
              <a:t>기획서 수정 일정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C1DA3E3-2705-A3BA-1188-0B48C8996B28}"/>
              </a:ext>
            </a:extLst>
          </p:cNvPr>
          <p:cNvCxnSpPr>
            <a:cxnSpLocks/>
          </p:cNvCxnSpPr>
          <p:nvPr/>
        </p:nvCxnSpPr>
        <p:spPr>
          <a:xfrm>
            <a:off x="133496" y="1211714"/>
            <a:ext cx="11700000" cy="0"/>
          </a:xfrm>
          <a:prstGeom prst="line">
            <a:avLst/>
          </a:prstGeom>
          <a:ln w="3175"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7314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B870680-4CD2-7BB1-CAF5-3319C04B618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DC16E78-8819-8219-C770-75C3BD1E4D45}"/>
              </a:ext>
            </a:extLst>
          </p:cNvPr>
          <p:cNvGrpSpPr/>
          <p:nvPr/>
        </p:nvGrpSpPr>
        <p:grpSpPr>
          <a:xfrm>
            <a:off x="6842540" y="96371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E4D379F-0D7A-E10A-C2FD-B3F877B38412}"/>
                </a:ext>
              </a:extLst>
            </p:cNvPr>
            <p:cNvSpPr txBox="1"/>
            <p:nvPr/>
          </p:nvSpPr>
          <p:spPr>
            <a:xfrm>
              <a:off x="6817895" y="310803"/>
              <a:ext cx="1478290" cy="31547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9900" b="1" dirty="0">
                  <a:latin typeface="+mj-ea"/>
                  <a:ea typeface="+mj-ea"/>
                </a:rPr>
                <a:t>1</a:t>
              </a:r>
              <a:endParaRPr lang="ko-KR" altLang="en-US" sz="19900" b="1" dirty="0">
                <a:latin typeface="+mj-ea"/>
                <a:ea typeface="+mj-ea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73F2969-8E1F-0403-B6B6-037C4B0D5DB2}"/>
                </a:ext>
              </a:extLst>
            </p:cNvPr>
            <p:cNvSpPr txBox="1"/>
            <p:nvPr/>
          </p:nvSpPr>
          <p:spPr>
            <a:xfrm>
              <a:off x="6817895" y="3350782"/>
              <a:ext cx="249299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4800" b="1" spc="-300" dirty="0" err="1">
                  <a:latin typeface="+mn-ea"/>
                </a:rPr>
                <a:t>사이트맵</a:t>
              </a:r>
              <a:endParaRPr lang="ko-KR" altLang="en-US" sz="4800" b="1" spc="-300" dirty="0">
                <a:latin typeface="+mn-ea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F9894119-F233-DC33-68F5-7374CF0E569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01021128-BA25-D6FF-656C-87D086ADE451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67445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323AA-8F01-1716-7DA4-146812DE5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863D9EB-3BBB-0BBA-D22F-280B8CCA50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C0A28B-72EE-CCE0-8A0B-9FC51FE2AE7C}"/>
              </a:ext>
            </a:extLst>
          </p:cNvPr>
          <p:cNvSpPr txBox="1"/>
          <p:nvPr/>
        </p:nvSpPr>
        <p:spPr>
          <a:xfrm flipH="1">
            <a:off x="133496" y="164386"/>
            <a:ext cx="48731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b="1" spc="-300" dirty="0" err="1">
                <a:latin typeface="+mj-ea"/>
                <a:ea typeface="+mj-ea"/>
              </a:rPr>
              <a:t>사이트맵</a:t>
            </a:r>
            <a:endParaRPr lang="ko-KR" altLang="en-US" sz="5000" b="1" spc="-300" dirty="0">
              <a:latin typeface="+mj-ea"/>
              <a:ea typeface="+mj-ea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0E26244-D97F-484B-8548-9D58864DCD3A}"/>
              </a:ext>
            </a:extLst>
          </p:cNvPr>
          <p:cNvCxnSpPr>
            <a:cxnSpLocks/>
          </p:cNvCxnSpPr>
          <p:nvPr/>
        </p:nvCxnSpPr>
        <p:spPr>
          <a:xfrm>
            <a:off x="246000" y="1221874"/>
            <a:ext cx="11700000" cy="0"/>
          </a:xfrm>
          <a:prstGeom prst="line">
            <a:avLst/>
          </a:prstGeom>
          <a:ln w="3175"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06409A7A-5931-3B09-3E9E-68353C80DDA5}"/>
              </a:ext>
            </a:extLst>
          </p:cNvPr>
          <p:cNvSpPr/>
          <p:nvPr/>
        </p:nvSpPr>
        <p:spPr>
          <a:xfrm>
            <a:off x="0" y="1585733"/>
            <a:ext cx="12192000" cy="5272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330058B-D50F-E43E-FB02-41DFA05A9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36350"/>
            <a:ext cx="12192000" cy="3596549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950846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57799A-20E5-F09A-C859-2AD6572DE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4D6EE0E4-406D-31AE-A8AA-7D423447A0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27AEBF25-CDBB-72B1-364C-11902160E4BF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B852EBE-F044-7DE6-4499-8BD811B61E23}"/>
                </a:ext>
              </a:extLst>
            </p:cNvPr>
            <p:cNvSpPr txBox="1"/>
            <p:nvPr/>
          </p:nvSpPr>
          <p:spPr>
            <a:xfrm>
              <a:off x="6817895" y="310803"/>
              <a:ext cx="147829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9900" b="1" dirty="0">
                  <a:latin typeface="Pretendard Black"/>
                  <a:ea typeface="+mj-ea"/>
                </a:rPr>
                <a:t>2</a:t>
              </a:r>
              <a:endParaRPr kumimoji="0" lang="ko-KR" altLang="en-US" sz="19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 Black"/>
                <a:ea typeface="+mj-ea"/>
                <a:cs typeface="+mn-cs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F34C24A-CC3D-E486-0B05-E043E71826F3}"/>
                </a:ext>
              </a:extLst>
            </p:cNvPr>
            <p:cNvSpPr txBox="1"/>
            <p:nvPr/>
          </p:nvSpPr>
          <p:spPr>
            <a:xfrm>
              <a:off x="6817895" y="3350782"/>
              <a:ext cx="307007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4800" b="1" spc="-300" dirty="0" err="1">
                  <a:latin typeface="Pretendard"/>
                </a:rPr>
                <a:t>플로우차트</a:t>
              </a:r>
              <a:endParaRPr kumimoji="0" lang="ko-KR" altLang="en-US" sz="4800" b="1" i="0" u="none" strike="noStrike" kern="1200" cap="none" spc="-300" normalizeH="0" baseline="0" noProof="0" dirty="0">
                <a:ln>
                  <a:noFill/>
                </a:ln>
                <a:effectLst/>
                <a:uLnTx/>
                <a:uFillTx/>
                <a:latin typeface="Pretendard"/>
                <a:cs typeface="+mn-cs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CE2647E4-5FCE-BCD7-905C-3FDE07FC22F9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A6A548DD-3C64-1704-6B41-B01A20187C3B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3597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348AB-8E22-1B0C-6162-EE50FE5C6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CEAFA1C3-4FFC-58F2-7F5C-4D4755C3E4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9931D8-D171-06B2-6189-46FF393C9A62}"/>
              </a:ext>
            </a:extLst>
          </p:cNvPr>
          <p:cNvSpPr txBox="1"/>
          <p:nvPr/>
        </p:nvSpPr>
        <p:spPr>
          <a:xfrm flipH="1">
            <a:off x="245256" y="164386"/>
            <a:ext cx="48731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b="1" spc="-300" dirty="0" err="1">
                <a:latin typeface="+mj-ea"/>
                <a:ea typeface="+mj-ea"/>
              </a:rPr>
              <a:t>플로우차트</a:t>
            </a:r>
            <a:endParaRPr lang="ko-KR" altLang="en-US" sz="5000" b="1" spc="-300" dirty="0">
              <a:latin typeface="+mj-ea"/>
              <a:ea typeface="+mj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266E9D2-A0BE-AB46-63B4-8460706F0B71}"/>
              </a:ext>
            </a:extLst>
          </p:cNvPr>
          <p:cNvCxnSpPr>
            <a:cxnSpLocks/>
          </p:cNvCxnSpPr>
          <p:nvPr/>
        </p:nvCxnSpPr>
        <p:spPr>
          <a:xfrm>
            <a:off x="246000" y="1221874"/>
            <a:ext cx="11700000" cy="0"/>
          </a:xfrm>
          <a:prstGeom prst="line">
            <a:avLst/>
          </a:prstGeom>
          <a:ln w="3175"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14E96510-4436-7C73-6833-80BB9466A653}"/>
              </a:ext>
            </a:extLst>
          </p:cNvPr>
          <p:cNvSpPr/>
          <p:nvPr/>
        </p:nvSpPr>
        <p:spPr>
          <a:xfrm>
            <a:off x="0" y="1496883"/>
            <a:ext cx="12192000" cy="53125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3DD7300-4CD7-F477-3643-C664BB81D5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744" y="1496883"/>
            <a:ext cx="7074512" cy="5142677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507841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F5F2BB-B841-3E71-D67B-DE840B092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00054B80-6603-FC87-8108-6BD77D51C0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892FA01-93D8-EE73-0BA4-543B6018CB3C}"/>
              </a:ext>
            </a:extLst>
          </p:cNvPr>
          <p:cNvGrpSpPr/>
          <p:nvPr/>
        </p:nvGrpSpPr>
        <p:grpSpPr>
          <a:xfrm>
            <a:off x="6817895" y="87227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700FDC4-323F-9B1F-C3FC-2F4DD29E5675}"/>
                </a:ext>
              </a:extLst>
            </p:cNvPr>
            <p:cNvSpPr txBox="1"/>
            <p:nvPr/>
          </p:nvSpPr>
          <p:spPr>
            <a:xfrm>
              <a:off x="6817895" y="310803"/>
              <a:ext cx="1478290" cy="31547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9900" b="1" dirty="0">
                  <a:latin typeface="Pretendard Black"/>
                  <a:ea typeface="+mj-ea"/>
                </a:rPr>
                <a:t>3</a:t>
              </a:r>
              <a:endParaRPr kumimoji="0" lang="ko-KR" altLang="en-US" sz="19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Pretendard Black"/>
                <a:ea typeface="+mj-ea"/>
                <a:cs typeface="+mn-cs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CF7BB41-3748-CE4D-FB54-431CC10E541B}"/>
                </a:ext>
              </a:extLst>
            </p:cNvPr>
            <p:cNvSpPr txBox="1"/>
            <p:nvPr/>
          </p:nvSpPr>
          <p:spPr>
            <a:xfrm>
              <a:off x="6817895" y="3350782"/>
              <a:ext cx="307007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4800" b="1" spc="-300" dirty="0">
                  <a:latin typeface="Pretendard"/>
                </a:rPr>
                <a:t>스토리보드</a:t>
              </a:r>
              <a:endParaRPr kumimoji="0" lang="ko-KR" altLang="en-US" sz="4800" b="1" i="0" u="none" strike="noStrike" kern="1200" cap="none" spc="-300" normalizeH="0" baseline="0" noProof="0" dirty="0">
                <a:ln>
                  <a:noFill/>
                </a:ln>
                <a:effectLst/>
                <a:uLnTx/>
                <a:uFillTx/>
                <a:latin typeface="Pretendard"/>
                <a:cs typeface="+mn-cs"/>
              </a:endParaRPr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69728363-27DE-95DE-ED23-BAB459CF4537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765A6E58-FB65-FE87-2764-EBC6E9F9C1CE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3121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5C95316-F7F3-8D2A-1A25-8CA7475BDD12}"/>
              </a:ext>
            </a:extLst>
          </p:cNvPr>
          <p:cNvSpPr txBox="1">
            <a:spLocks/>
          </p:cNvSpPr>
          <p:nvPr/>
        </p:nvSpPr>
        <p:spPr>
          <a:xfrm>
            <a:off x="-41612" y="28413"/>
            <a:ext cx="2601799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3. </a:t>
            </a:r>
            <a:r>
              <a:rPr lang="ko-KR" altLang="en-US"/>
              <a:t>화면 설계</a:t>
            </a:r>
            <a:endParaRPr lang="ko-KR" altLang="en-US" dirty="0"/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48CFB244-5A96-1D0F-29DC-CF69BEDFE4F9}"/>
              </a:ext>
            </a:extLst>
          </p:cNvPr>
          <p:cNvSpPr txBox="1">
            <a:spLocks/>
          </p:cNvSpPr>
          <p:nvPr/>
        </p:nvSpPr>
        <p:spPr>
          <a:xfrm>
            <a:off x="2560187" y="110102"/>
            <a:ext cx="7837333" cy="24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메인</a:t>
            </a:r>
            <a:endParaRPr lang="ko-KR" altLang="en-US" dirty="0"/>
          </a:p>
        </p:txBody>
      </p:sp>
      <p:graphicFrame>
        <p:nvGraphicFramePr>
          <p:cNvPr id="12" name="표 45">
            <a:extLst>
              <a:ext uri="{FF2B5EF4-FFF2-40B4-BE49-F238E27FC236}">
                <a16:creationId xmlns:a16="http://schemas.microsoft.com/office/drawing/2014/main" id="{DB86834A-9E70-8587-B43A-68A3C53340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466226"/>
              </p:ext>
            </p:extLst>
          </p:nvPr>
        </p:nvGraphicFramePr>
        <p:xfrm>
          <a:off x="-57378" y="0"/>
          <a:ext cx="12249378" cy="70720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1169">
                  <a:extLst>
                    <a:ext uri="{9D8B030D-6E8A-4147-A177-3AD203B41FA5}">
                      <a16:colId xmlns:a16="http://schemas.microsoft.com/office/drawing/2014/main" val="2969593370"/>
                    </a:ext>
                  </a:extLst>
                </a:gridCol>
                <a:gridCol w="3446398">
                  <a:extLst>
                    <a:ext uri="{9D8B030D-6E8A-4147-A177-3AD203B41FA5}">
                      <a16:colId xmlns:a16="http://schemas.microsoft.com/office/drawing/2014/main" val="3556436977"/>
                    </a:ext>
                  </a:extLst>
                </a:gridCol>
                <a:gridCol w="260062">
                  <a:extLst>
                    <a:ext uri="{9D8B030D-6E8A-4147-A177-3AD203B41FA5}">
                      <a16:colId xmlns:a16="http://schemas.microsoft.com/office/drawing/2014/main" val="1698211532"/>
                    </a:ext>
                  </a:extLst>
                </a:gridCol>
                <a:gridCol w="2436332">
                  <a:extLst>
                    <a:ext uri="{9D8B030D-6E8A-4147-A177-3AD203B41FA5}">
                      <a16:colId xmlns:a16="http://schemas.microsoft.com/office/drawing/2014/main" val="2028339346"/>
                    </a:ext>
                  </a:extLst>
                </a:gridCol>
                <a:gridCol w="3045417">
                  <a:extLst>
                    <a:ext uri="{9D8B030D-6E8A-4147-A177-3AD203B41FA5}">
                      <a16:colId xmlns:a16="http://schemas.microsoft.com/office/drawing/2014/main" val="3410808988"/>
                    </a:ext>
                  </a:extLst>
                </a:gridCol>
              </a:tblGrid>
              <a:tr h="22931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프로젝트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명</a:t>
                      </a:r>
                      <a:r>
                        <a:rPr lang="en-US" altLang="ko-KR" dirty="0"/>
                        <a:t>	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자취생의 부엌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작성자</a:t>
                      </a:r>
                      <a:r>
                        <a:rPr lang="ko-KR" altLang="en-US" dirty="0"/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강민경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603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myweb</a:t>
                      </a:r>
                      <a:r>
                        <a:rPr lang="en-US" altLang="ko-KR" dirty="0"/>
                        <a:t>/index.html 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화면코드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P001_MAIN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471643"/>
                  </a:ext>
                </a:extLst>
              </a:tr>
              <a:tr h="322889">
                <a:tc rowSpan="5" grid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DF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b="1" dirty="0" err="1"/>
                        <a:t>메인페이지</a:t>
                      </a:r>
                      <a:r>
                        <a:rPr lang="ko-KR" altLang="en-US" b="1" dirty="0"/>
                        <a:t> </a:t>
                      </a:r>
                      <a:r>
                        <a:rPr lang="en-US" altLang="ko-KR" b="1" dirty="0"/>
                        <a:t>:</a:t>
                      </a:r>
                    </a:p>
                    <a:p>
                      <a:pPr latinLnBrk="1"/>
                      <a:r>
                        <a:rPr lang="ko-KR" altLang="en-US" b="0" dirty="0"/>
                        <a:t>웹사이트가 어떤 기능을 하는지 한눈에 볼 수 있으며</a:t>
                      </a:r>
                      <a:r>
                        <a:rPr lang="en-US" altLang="ko-KR" b="0" dirty="0"/>
                        <a:t>, </a:t>
                      </a:r>
                      <a:r>
                        <a:rPr lang="ko-KR" altLang="en-US" b="0" dirty="0"/>
                        <a:t>각각의 기능을 하는 메뉴가 화면에 배치되어 있다</a:t>
                      </a:r>
                      <a:r>
                        <a:rPr lang="en-US" altLang="ko-KR" b="0" dirty="0"/>
                        <a:t>.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490870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1"/>
                        <a:t>로고</a:t>
                      </a:r>
                      <a:endParaRPr lang="en-US" altLang="ko-KR" b="1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/>
                        <a:t>어느 페이지에서든 홈으로 돌아온다</a:t>
                      </a:r>
                      <a:r>
                        <a:rPr lang="en-US" altLang="ko-KR"/>
                        <a:t>.</a:t>
                      </a:r>
                      <a:r>
                        <a:rPr lang="ko-KR" altLang="en-US"/>
                        <a:t> 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301912"/>
                  </a:ext>
                </a:extLst>
              </a:tr>
              <a:tr h="1599390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1"/>
                        <a:t>검색기능</a:t>
                      </a:r>
                      <a:endParaRPr lang="en-US" altLang="ko-KR" b="1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/>
                        <a:t>검색페이지가 모달창으로 나타난다</a:t>
                      </a:r>
                      <a:r>
                        <a:rPr lang="en-US" altLang="ko-KR"/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/>
                        <a:t>자신이 사용할 재료를 검색한 뒤 원하는 음식을 클릭해서 레시피 및 주재료를 조회한다</a:t>
                      </a:r>
                      <a:r>
                        <a:rPr lang="en-US" altLang="ko-KR"/>
                        <a:t>.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595324"/>
                  </a:ext>
                </a:extLst>
              </a:tr>
              <a:tr h="92849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3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1"/>
                        <a:t>장바구니</a:t>
                      </a:r>
                      <a:endParaRPr lang="en-US" altLang="ko-KR" b="1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/>
                        <a:t>장바구니 페이지로 이동한다</a:t>
                      </a:r>
                      <a:r>
                        <a:rPr lang="en-US" altLang="ko-KR"/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/>
                        <a:t>메인 화면에서는 장바구니가 비어있기 때문에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빈 화면으로 출력된다</a:t>
                      </a:r>
                      <a:r>
                        <a:rPr lang="en-US" altLang="ko-KR"/>
                        <a:t>.</a:t>
                      </a:r>
                      <a:endParaRPr lang="en-US" altLang="ko-K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7933046"/>
                  </a:ext>
                </a:extLst>
              </a:tr>
              <a:tr h="971760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4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1"/>
                        <a:t>챗봇</a:t>
                      </a:r>
                      <a:endParaRPr lang="en-US" altLang="ko-KR" b="1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/>
                        <a:t>레시피를 직접 물어볼 수 있는 챗봇이 모달화면으로 나타납니다</a:t>
                      </a:r>
                      <a:r>
                        <a:rPr lang="en-US" altLang="ko-KR"/>
                        <a:t>.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585710"/>
                  </a:ext>
                </a:extLst>
              </a:tr>
              <a:tr h="1026209">
                <a:tc grid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D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5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Footer</a:t>
                      </a:r>
                      <a:r>
                        <a:rPr lang="en-US" altLang="ko-KR" dirty="0"/>
                        <a:t> 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홈페이지의 기본 정보를 보여줍니다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176962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BFFFC527-6232-9E49-245A-D19CE939C1A7}"/>
              </a:ext>
            </a:extLst>
          </p:cNvPr>
          <p:cNvSpPr/>
          <p:nvPr/>
        </p:nvSpPr>
        <p:spPr>
          <a:xfrm>
            <a:off x="-57379" y="948692"/>
            <a:ext cx="6511159" cy="77830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85C1F7C-FE0B-81BF-7039-AB0CC920BECB}"/>
              </a:ext>
            </a:extLst>
          </p:cNvPr>
          <p:cNvSpPr/>
          <p:nvPr/>
        </p:nvSpPr>
        <p:spPr>
          <a:xfrm>
            <a:off x="-41613" y="1726997"/>
            <a:ext cx="6495393" cy="45073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이미지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555DE5F-3B42-E487-F51A-640C9004ADC7}"/>
              </a:ext>
            </a:extLst>
          </p:cNvPr>
          <p:cNvSpPr/>
          <p:nvPr/>
        </p:nvSpPr>
        <p:spPr>
          <a:xfrm>
            <a:off x="-90308" y="6234362"/>
            <a:ext cx="6544088" cy="106056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FOOTER</a:t>
            </a:r>
            <a:endParaRPr lang="ko-KR" altLang="en-US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FCCA4189-9E61-A699-55B3-6B18F57CC4A9}"/>
              </a:ext>
            </a:extLst>
          </p:cNvPr>
          <p:cNvSpPr/>
          <p:nvPr/>
        </p:nvSpPr>
        <p:spPr>
          <a:xfrm>
            <a:off x="5406988" y="5668453"/>
            <a:ext cx="1026694" cy="91405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챗봇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809F2E-08AE-0FC0-19BE-BD6DB12CD8D7}"/>
              </a:ext>
            </a:extLst>
          </p:cNvPr>
          <p:cNvSpPr txBox="1"/>
          <p:nvPr/>
        </p:nvSpPr>
        <p:spPr>
          <a:xfrm>
            <a:off x="3198200" y="1071793"/>
            <a:ext cx="1623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tx1"/>
                </a:solidFill>
              </a:rPr>
              <a:t>레시피 검색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EE58C7-FF40-5702-3EBB-ECB30B59052A}"/>
              </a:ext>
            </a:extLst>
          </p:cNvPr>
          <p:cNvSpPr txBox="1"/>
          <p:nvPr/>
        </p:nvSpPr>
        <p:spPr>
          <a:xfrm>
            <a:off x="4829047" y="1085999"/>
            <a:ext cx="1126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장바구니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3D6038-D38A-22FB-4822-A23CC2C577AF}"/>
              </a:ext>
            </a:extLst>
          </p:cNvPr>
          <p:cNvSpPr txBox="1"/>
          <p:nvPr/>
        </p:nvSpPr>
        <p:spPr>
          <a:xfrm>
            <a:off x="-31233" y="755012"/>
            <a:ext cx="631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1</a:t>
            </a:r>
            <a:endParaRPr lang="ko-KR" altLang="en-US" sz="32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6069F8-5BCE-0D03-FEF2-87D0CA4D78B9}"/>
              </a:ext>
            </a:extLst>
          </p:cNvPr>
          <p:cNvSpPr txBox="1"/>
          <p:nvPr/>
        </p:nvSpPr>
        <p:spPr>
          <a:xfrm>
            <a:off x="2909046" y="824716"/>
            <a:ext cx="631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2</a:t>
            </a:r>
            <a:endParaRPr lang="ko-KR" altLang="en-US" sz="3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D9BA53-C484-FBB3-F931-1B201639EFBA}"/>
              </a:ext>
            </a:extLst>
          </p:cNvPr>
          <p:cNvSpPr txBox="1"/>
          <p:nvPr/>
        </p:nvSpPr>
        <p:spPr>
          <a:xfrm>
            <a:off x="4573878" y="856350"/>
            <a:ext cx="5103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3</a:t>
            </a:r>
            <a:endParaRPr lang="ko-KR" altLang="en-US" sz="32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481C87-350B-AFA9-A114-462F976788CE}"/>
              </a:ext>
            </a:extLst>
          </p:cNvPr>
          <p:cNvSpPr txBox="1"/>
          <p:nvPr/>
        </p:nvSpPr>
        <p:spPr>
          <a:xfrm>
            <a:off x="5288677" y="5327685"/>
            <a:ext cx="631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4</a:t>
            </a:r>
            <a:endParaRPr lang="ko-KR" altLang="en-US" sz="32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DADFE0-AA20-C2A4-504F-6C05EDB49730}"/>
              </a:ext>
            </a:extLst>
          </p:cNvPr>
          <p:cNvSpPr txBox="1"/>
          <p:nvPr/>
        </p:nvSpPr>
        <p:spPr>
          <a:xfrm>
            <a:off x="-158332" y="5955321"/>
            <a:ext cx="631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5</a:t>
            </a:r>
            <a:endParaRPr lang="ko-KR" altLang="en-US" sz="3200" b="1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99B2C0F-460B-C940-8FE3-7E6145D64DD3}"/>
              </a:ext>
            </a:extLst>
          </p:cNvPr>
          <p:cNvSpPr/>
          <p:nvPr/>
        </p:nvSpPr>
        <p:spPr>
          <a:xfrm>
            <a:off x="284596" y="1133705"/>
            <a:ext cx="97469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로고</a:t>
            </a:r>
          </a:p>
        </p:txBody>
      </p:sp>
    </p:spTree>
    <p:extLst>
      <p:ext uri="{BB962C8B-B14F-4D97-AF65-F5344CB8AC3E}">
        <p14:creationId xmlns:p14="http://schemas.microsoft.com/office/powerpoint/2010/main" val="4107778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905A8-2EFC-5188-20DE-7CCFDE064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1">
            <a:extLst>
              <a:ext uri="{FF2B5EF4-FFF2-40B4-BE49-F238E27FC236}">
                <a16:creationId xmlns:a16="http://schemas.microsoft.com/office/drawing/2014/main" id="{F298F8E0-9E79-6466-74A5-E111A75FF6D5}"/>
              </a:ext>
            </a:extLst>
          </p:cNvPr>
          <p:cNvSpPr txBox="1">
            <a:spLocks/>
          </p:cNvSpPr>
          <p:nvPr/>
        </p:nvSpPr>
        <p:spPr>
          <a:xfrm>
            <a:off x="0" y="28411"/>
            <a:ext cx="2601799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3. </a:t>
            </a:r>
            <a:r>
              <a:rPr lang="ko-KR" altLang="en-US"/>
              <a:t>화면 설계</a:t>
            </a:r>
            <a:endParaRPr lang="ko-KR" altLang="en-US" dirty="0"/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8FD46F5C-041A-C808-89FE-498C639516DB}"/>
              </a:ext>
            </a:extLst>
          </p:cNvPr>
          <p:cNvSpPr txBox="1">
            <a:spLocks/>
          </p:cNvSpPr>
          <p:nvPr/>
        </p:nvSpPr>
        <p:spPr>
          <a:xfrm>
            <a:off x="2601799" y="110100"/>
            <a:ext cx="7837333" cy="24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메인</a:t>
            </a:r>
            <a:endParaRPr lang="ko-KR" altLang="en-US" dirty="0"/>
          </a:p>
        </p:txBody>
      </p:sp>
      <p:graphicFrame>
        <p:nvGraphicFramePr>
          <p:cNvPr id="5" name="표 45">
            <a:extLst>
              <a:ext uri="{FF2B5EF4-FFF2-40B4-BE49-F238E27FC236}">
                <a16:creationId xmlns:a16="http://schemas.microsoft.com/office/drawing/2014/main" id="{F8A91E2E-074B-2C27-A40A-C1E161F07B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037366"/>
              </p:ext>
            </p:extLst>
          </p:nvPr>
        </p:nvGraphicFramePr>
        <p:xfrm>
          <a:off x="0" y="0"/>
          <a:ext cx="12192000" cy="68295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7704">
                  <a:extLst>
                    <a:ext uri="{9D8B030D-6E8A-4147-A177-3AD203B41FA5}">
                      <a16:colId xmlns:a16="http://schemas.microsoft.com/office/drawing/2014/main" val="2969593370"/>
                    </a:ext>
                  </a:extLst>
                </a:gridCol>
                <a:gridCol w="4088296">
                  <a:extLst>
                    <a:ext uri="{9D8B030D-6E8A-4147-A177-3AD203B41FA5}">
                      <a16:colId xmlns:a16="http://schemas.microsoft.com/office/drawing/2014/main" val="3556436977"/>
                    </a:ext>
                  </a:extLst>
                </a:gridCol>
                <a:gridCol w="609601">
                  <a:extLst>
                    <a:ext uri="{9D8B030D-6E8A-4147-A177-3AD203B41FA5}">
                      <a16:colId xmlns:a16="http://schemas.microsoft.com/office/drawing/2014/main" val="1698211532"/>
                    </a:ext>
                  </a:extLst>
                </a:gridCol>
                <a:gridCol w="2438399">
                  <a:extLst>
                    <a:ext uri="{9D8B030D-6E8A-4147-A177-3AD203B41FA5}">
                      <a16:colId xmlns:a16="http://schemas.microsoft.com/office/drawing/2014/main" val="202833934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410808988"/>
                    </a:ext>
                  </a:extLst>
                </a:gridCol>
              </a:tblGrid>
              <a:tr h="6605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프로젝트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명</a:t>
                      </a:r>
                      <a:r>
                        <a:rPr lang="en-US" altLang="ko-KR" dirty="0"/>
                        <a:t>	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자취생의 부엌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작성자</a:t>
                      </a:r>
                      <a:r>
                        <a:rPr lang="ko-KR" altLang="en-US" dirty="0"/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강민경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603475"/>
                  </a:ext>
                </a:extLst>
              </a:tr>
              <a:tr h="66057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myweb</a:t>
                      </a:r>
                      <a:r>
                        <a:rPr lang="en-US" altLang="ko-KR" dirty="0"/>
                        <a:t>/index.html </a:t>
                      </a:r>
                      <a:br>
                        <a:rPr lang="en-US" altLang="ko-KR" dirty="0"/>
                      </a:br>
                      <a:r>
                        <a:rPr lang="en-US" altLang="ko-KR" dirty="0" err="1"/>
                        <a:t>myweb</a:t>
                      </a:r>
                      <a:r>
                        <a:rPr lang="en-US" altLang="ko-KR" dirty="0"/>
                        <a:t>/searchRecipe.html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화면코드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P002_SEARCH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159880"/>
                  </a:ext>
                </a:extLst>
              </a:tr>
              <a:tr h="753752">
                <a:tc rowSpan="5" grid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ADEB4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b="1" dirty="0" err="1"/>
                        <a:t>메인페이지</a:t>
                      </a:r>
                      <a:r>
                        <a:rPr lang="ko-KR" altLang="en-US" b="1" dirty="0"/>
                        <a:t> </a:t>
                      </a:r>
                      <a:r>
                        <a:rPr lang="en-US" altLang="ko-KR" b="1" dirty="0"/>
                        <a:t>&gt; </a:t>
                      </a:r>
                      <a:r>
                        <a:rPr lang="ko-KR" altLang="en-US" b="1" dirty="0" err="1"/>
                        <a:t>레시피검색</a:t>
                      </a:r>
                      <a:r>
                        <a:rPr lang="en-US" altLang="ko-KR" b="1" dirty="0"/>
                        <a:t>(</a:t>
                      </a:r>
                      <a:r>
                        <a:rPr lang="ko-KR" altLang="en-US" b="1" dirty="0" err="1"/>
                        <a:t>모달</a:t>
                      </a:r>
                      <a:r>
                        <a:rPr lang="en-US" altLang="ko-KR" b="1" dirty="0"/>
                        <a:t>)</a:t>
                      </a:r>
                    </a:p>
                    <a:p>
                      <a:pPr latinLnBrk="1"/>
                      <a:r>
                        <a:rPr lang="ko-KR" altLang="en-US" b="0" dirty="0"/>
                        <a:t>자신이 가진 재료를 이용해 레시피를 검색해 볼 수 있다</a:t>
                      </a:r>
                      <a:r>
                        <a:rPr lang="en-US" altLang="ko-KR" b="0" dirty="0"/>
                        <a:t>.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490870"/>
                  </a:ext>
                </a:extLst>
              </a:tr>
              <a:tr h="706309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1" dirty="0" err="1"/>
                        <a:t>입력창</a:t>
                      </a:r>
                      <a:r>
                        <a:rPr lang="ko-KR" altLang="en-US" dirty="0"/>
                        <a:t> </a:t>
                      </a:r>
                      <a:endParaRPr lang="en-US" altLang="ko-KR" dirty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사용자가 요리에 이용할 식재료를 적고 검색한다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301912"/>
                  </a:ext>
                </a:extLst>
              </a:tr>
              <a:tr h="179298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조회결과 출력화면</a:t>
                      </a:r>
                      <a:endParaRPr lang="en-US" altLang="ko-KR" b="1" dirty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b="1" dirty="0"/>
                        <a:t>조회된 데이터가 </a:t>
                      </a:r>
                      <a:r>
                        <a:rPr lang="ko-KR" altLang="en-US" b="1" dirty="0" err="1"/>
                        <a:t>없을때</a:t>
                      </a:r>
                      <a:r>
                        <a:rPr lang="ko-KR" altLang="en-US" b="1" dirty="0"/>
                        <a:t> 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다시 입력을 요청하는 문구가 나온다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en-US" altLang="ko-KR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b="1" dirty="0"/>
                        <a:t>조회된 데이터가 </a:t>
                      </a:r>
                      <a:r>
                        <a:rPr lang="ko-KR" altLang="en-US" b="1" dirty="0" err="1"/>
                        <a:t>있을때</a:t>
                      </a:r>
                      <a:r>
                        <a:rPr lang="ko-KR" altLang="en-US" b="1" dirty="0"/>
                        <a:t> </a:t>
                      </a:r>
                      <a:r>
                        <a:rPr lang="en-US" altLang="ko-KR" dirty="0"/>
                        <a:t>:</a:t>
                      </a:r>
                      <a:r>
                        <a:rPr lang="ko-KR" altLang="en-US" dirty="0"/>
                        <a:t> 검색된 요리들이 이미지와 함께 표</a:t>
                      </a:r>
                      <a:r>
                        <a:rPr lang="en-US" altLang="ko-KR" dirty="0"/>
                        <a:t>(3 * 3)</a:t>
                      </a:r>
                      <a:r>
                        <a:rPr lang="ko-KR" altLang="en-US" dirty="0"/>
                        <a:t> 형태로 출력된다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595324"/>
                  </a:ext>
                </a:extLst>
              </a:tr>
              <a:tr h="94367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1" dirty="0" err="1"/>
                        <a:t>페이징</a:t>
                      </a:r>
                      <a:endParaRPr lang="en-US" altLang="ko-KR" b="1" dirty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/>
                        <a:t>9 </a:t>
                      </a:r>
                      <a:r>
                        <a:rPr lang="ko-KR" altLang="en-US" dirty="0"/>
                        <a:t>개 이상의 데이터가 조회될 시 </a:t>
                      </a:r>
                      <a:r>
                        <a:rPr lang="ko-KR" altLang="en-US" dirty="0" err="1"/>
                        <a:t>페이징</a:t>
                      </a:r>
                      <a:r>
                        <a:rPr lang="ko-KR" altLang="en-US" dirty="0"/>
                        <a:t> 처리가 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7933046"/>
                  </a:ext>
                </a:extLst>
              </a:tr>
              <a:tr h="1311716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1" dirty="0" err="1"/>
                        <a:t>챗봇</a:t>
                      </a:r>
                      <a:endParaRPr lang="en-US" altLang="ko-KR" b="1" dirty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레시피를 직접 물어볼 수 있는 </a:t>
                      </a:r>
                      <a:r>
                        <a:rPr lang="ko-KR" altLang="en-US" dirty="0" err="1"/>
                        <a:t>챗봇이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모달화면으로</a:t>
                      </a:r>
                      <a:r>
                        <a:rPr lang="ko-KR" altLang="en-US" dirty="0"/>
                        <a:t> 나타납니다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585710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AEF1B5D0-5062-AAB7-17EB-A73E164BD33B}"/>
              </a:ext>
            </a:extLst>
          </p:cNvPr>
          <p:cNvSpPr/>
          <p:nvPr/>
        </p:nvSpPr>
        <p:spPr>
          <a:xfrm>
            <a:off x="0" y="1251818"/>
            <a:ext cx="6101754" cy="4751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3FBEC7B-6E96-1040-635E-AB7CDDFD8ACF}"/>
              </a:ext>
            </a:extLst>
          </p:cNvPr>
          <p:cNvSpPr/>
          <p:nvPr/>
        </p:nvSpPr>
        <p:spPr>
          <a:xfrm>
            <a:off x="0" y="1726997"/>
            <a:ext cx="6096000" cy="387918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이미지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7A722F9-9AAE-4B4B-5389-856962208583}"/>
              </a:ext>
            </a:extLst>
          </p:cNvPr>
          <p:cNvSpPr/>
          <p:nvPr/>
        </p:nvSpPr>
        <p:spPr>
          <a:xfrm>
            <a:off x="0" y="5606182"/>
            <a:ext cx="6096000" cy="125181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FOOTER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E759835-E710-D61F-435C-068D3DE3638C}"/>
              </a:ext>
            </a:extLst>
          </p:cNvPr>
          <p:cNvSpPr/>
          <p:nvPr/>
        </p:nvSpPr>
        <p:spPr>
          <a:xfrm>
            <a:off x="4849168" y="5114302"/>
            <a:ext cx="1026694" cy="91405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챗봇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70FBA7-2A0A-A3CD-1DAE-6C54940177B6}"/>
              </a:ext>
            </a:extLst>
          </p:cNvPr>
          <p:cNvSpPr txBox="1"/>
          <p:nvPr/>
        </p:nvSpPr>
        <p:spPr>
          <a:xfrm>
            <a:off x="3202386" y="1322335"/>
            <a:ext cx="1623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tx1"/>
                </a:solidFill>
              </a:rPr>
              <a:t>레시피 검색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1AA3D3-5B8A-07A7-54C4-9FCD29578413}"/>
              </a:ext>
            </a:extLst>
          </p:cNvPr>
          <p:cNvSpPr txBox="1"/>
          <p:nvPr/>
        </p:nvSpPr>
        <p:spPr>
          <a:xfrm>
            <a:off x="4799034" y="1326709"/>
            <a:ext cx="1126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장바구니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805562-3BA8-45DF-0E8B-2282BCB4B0C8}"/>
              </a:ext>
            </a:extLst>
          </p:cNvPr>
          <p:cNvSpPr/>
          <p:nvPr/>
        </p:nvSpPr>
        <p:spPr>
          <a:xfrm>
            <a:off x="224962" y="1282988"/>
            <a:ext cx="97469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8A2F85D-4A1A-89F2-E6E9-082AFF5D5F44}"/>
              </a:ext>
            </a:extLst>
          </p:cNvPr>
          <p:cNvSpPr/>
          <p:nvPr/>
        </p:nvSpPr>
        <p:spPr>
          <a:xfrm>
            <a:off x="-5754" y="1251818"/>
            <a:ext cx="6107508" cy="5606181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806FDD7-8D48-99A0-47F5-8AE510FD1858}"/>
              </a:ext>
            </a:extLst>
          </p:cNvPr>
          <p:cNvSpPr/>
          <p:nvPr/>
        </p:nvSpPr>
        <p:spPr>
          <a:xfrm>
            <a:off x="1405924" y="1933005"/>
            <a:ext cx="3324473" cy="387918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B959AA2-A99C-FF83-9C68-9E4CE1DA07DC}"/>
              </a:ext>
            </a:extLst>
          </p:cNvPr>
          <p:cNvSpPr/>
          <p:nvPr/>
        </p:nvSpPr>
        <p:spPr>
          <a:xfrm>
            <a:off x="1725136" y="2507675"/>
            <a:ext cx="2686050" cy="2754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bg2">
                    <a:lumMod val="75000"/>
                  </a:schemeClr>
                </a:solidFill>
              </a:rPr>
              <a:t>재료를 입력하세요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8232BEA-00D7-9B9E-9651-BCAA90B6BEB2}"/>
              </a:ext>
            </a:extLst>
          </p:cNvPr>
          <p:cNvSpPr/>
          <p:nvPr/>
        </p:nvSpPr>
        <p:spPr>
          <a:xfrm>
            <a:off x="2763361" y="5247169"/>
            <a:ext cx="219075" cy="2663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4F8E645-3580-09B2-2625-6D05FACF10C3}"/>
              </a:ext>
            </a:extLst>
          </p:cNvPr>
          <p:cNvSpPr/>
          <p:nvPr/>
        </p:nvSpPr>
        <p:spPr>
          <a:xfrm>
            <a:off x="3041340" y="5247169"/>
            <a:ext cx="219075" cy="2663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3722220-0093-8A48-2DB3-99963F155109}"/>
              </a:ext>
            </a:extLst>
          </p:cNvPr>
          <p:cNvSpPr/>
          <p:nvPr/>
        </p:nvSpPr>
        <p:spPr>
          <a:xfrm>
            <a:off x="3353660" y="5247169"/>
            <a:ext cx="219075" cy="2663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EBCD02-9487-BE11-BB3F-29252F4C3C6E}"/>
              </a:ext>
            </a:extLst>
          </p:cNvPr>
          <p:cNvSpPr txBox="1"/>
          <p:nvPr/>
        </p:nvSpPr>
        <p:spPr>
          <a:xfrm>
            <a:off x="2380343" y="2127981"/>
            <a:ext cx="1460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레시피 검색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20B1A4-84C9-8F44-4055-7D97A6CAF235}"/>
              </a:ext>
            </a:extLst>
          </p:cNvPr>
          <p:cNvSpPr txBox="1"/>
          <p:nvPr/>
        </p:nvSpPr>
        <p:spPr>
          <a:xfrm>
            <a:off x="1514464" y="2158615"/>
            <a:ext cx="415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1</a:t>
            </a:r>
            <a:endParaRPr lang="ko-KR" altLang="en-US" sz="32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76D42-3DC1-4353-D0A5-ECE541550E05}"/>
              </a:ext>
            </a:extLst>
          </p:cNvPr>
          <p:cNvSpPr txBox="1"/>
          <p:nvPr/>
        </p:nvSpPr>
        <p:spPr>
          <a:xfrm>
            <a:off x="2203392" y="5061489"/>
            <a:ext cx="415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3</a:t>
            </a:r>
            <a:endParaRPr lang="ko-KR" altLang="en-US" sz="3200" b="1" dirty="0"/>
          </a:p>
        </p:txBody>
      </p:sp>
      <p:graphicFrame>
        <p:nvGraphicFramePr>
          <p:cNvPr id="36" name="표 16">
            <a:extLst>
              <a:ext uri="{FF2B5EF4-FFF2-40B4-BE49-F238E27FC236}">
                <a16:creationId xmlns:a16="http://schemas.microsoft.com/office/drawing/2014/main" id="{23EE6D23-B1CC-C0FD-9A25-26810DFF0A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836886"/>
              </p:ext>
            </p:extLst>
          </p:nvPr>
        </p:nvGraphicFramePr>
        <p:xfrm>
          <a:off x="1770343" y="2972344"/>
          <a:ext cx="2640843" cy="20355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81">
                  <a:extLst>
                    <a:ext uri="{9D8B030D-6E8A-4147-A177-3AD203B41FA5}">
                      <a16:colId xmlns:a16="http://schemas.microsoft.com/office/drawing/2014/main" val="640953906"/>
                    </a:ext>
                  </a:extLst>
                </a:gridCol>
                <a:gridCol w="867181">
                  <a:extLst>
                    <a:ext uri="{9D8B030D-6E8A-4147-A177-3AD203B41FA5}">
                      <a16:colId xmlns:a16="http://schemas.microsoft.com/office/drawing/2014/main" val="4079899237"/>
                    </a:ext>
                  </a:extLst>
                </a:gridCol>
                <a:gridCol w="893381">
                  <a:extLst>
                    <a:ext uri="{9D8B030D-6E8A-4147-A177-3AD203B41FA5}">
                      <a16:colId xmlns:a16="http://schemas.microsoft.com/office/drawing/2014/main" val="663963138"/>
                    </a:ext>
                  </a:extLst>
                </a:gridCol>
              </a:tblGrid>
              <a:tr h="67851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331576"/>
                  </a:ext>
                </a:extLst>
              </a:tr>
              <a:tr h="67851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108940"/>
                  </a:ext>
                </a:extLst>
              </a:tr>
              <a:tr h="678513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503267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E73909C4-D21B-9CBE-6879-C1B3FBC1C7C2}"/>
              </a:ext>
            </a:extLst>
          </p:cNvPr>
          <p:cNvSpPr txBox="1"/>
          <p:nvPr/>
        </p:nvSpPr>
        <p:spPr>
          <a:xfrm>
            <a:off x="1571734" y="2735081"/>
            <a:ext cx="631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2</a:t>
            </a:r>
            <a:endParaRPr lang="ko-KR" altLang="en-US" sz="32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5D9B9D-2DC4-7973-F7DF-8D1D9659B490}"/>
              </a:ext>
            </a:extLst>
          </p:cNvPr>
          <p:cNvSpPr txBox="1"/>
          <p:nvPr/>
        </p:nvSpPr>
        <p:spPr>
          <a:xfrm>
            <a:off x="3577748" y="5189297"/>
            <a:ext cx="202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027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A0333-DBDA-2F1C-EC34-DF83A0E6D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1">
            <a:extLst>
              <a:ext uri="{FF2B5EF4-FFF2-40B4-BE49-F238E27FC236}">
                <a16:creationId xmlns:a16="http://schemas.microsoft.com/office/drawing/2014/main" id="{BEC20967-2D1C-B6A5-31A8-994674145207}"/>
              </a:ext>
            </a:extLst>
          </p:cNvPr>
          <p:cNvSpPr txBox="1">
            <a:spLocks/>
          </p:cNvSpPr>
          <p:nvPr/>
        </p:nvSpPr>
        <p:spPr>
          <a:xfrm>
            <a:off x="0" y="28411"/>
            <a:ext cx="2601799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3. </a:t>
            </a:r>
            <a:r>
              <a:rPr lang="ko-KR" altLang="en-US"/>
              <a:t>화면 설계</a:t>
            </a:r>
            <a:endParaRPr lang="ko-KR" altLang="en-US" dirty="0"/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318A8B8C-29FB-0067-A45F-096C30A3B668}"/>
              </a:ext>
            </a:extLst>
          </p:cNvPr>
          <p:cNvSpPr txBox="1">
            <a:spLocks/>
          </p:cNvSpPr>
          <p:nvPr/>
        </p:nvSpPr>
        <p:spPr>
          <a:xfrm>
            <a:off x="2601799" y="110100"/>
            <a:ext cx="7837333" cy="24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메인</a:t>
            </a:r>
            <a:endParaRPr lang="ko-KR" altLang="en-US" dirty="0"/>
          </a:p>
        </p:txBody>
      </p:sp>
      <p:graphicFrame>
        <p:nvGraphicFramePr>
          <p:cNvPr id="5" name="표 45">
            <a:extLst>
              <a:ext uri="{FF2B5EF4-FFF2-40B4-BE49-F238E27FC236}">
                <a16:creationId xmlns:a16="http://schemas.microsoft.com/office/drawing/2014/main" id="{A0ED39D5-C6F6-56F4-7CCC-89173472A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436929"/>
              </p:ext>
            </p:extLst>
          </p:nvPr>
        </p:nvGraphicFramePr>
        <p:xfrm>
          <a:off x="0" y="-1"/>
          <a:ext cx="12192000" cy="68295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96959337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556436977"/>
                    </a:ext>
                  </a:extLst>
                </a:gridCol>
                <a:gridCol w="609601">
                  <a:extLst>
                    <a:ext uri="{9D8B030D-6E8A-4147-A177-3AD203B41FA5}">
                      <a16:colId xmlns:a16="http://schemas.microsoft.com/office/drawing/2014/main" val="1698211532"/>
                    </a:ext>
                  </a:extLst>
                </a:gridCol>
                <a:gridCol w="2438399">
                  <a:extLst>
                    <a:ext uri="{9D8B030D-6E8A-4147-A177-3AD203B41FA5}">
                      <a16:colId xmlns:a16="http://schemas.microsoft.com/office/drawing/2014/main" val="202833934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410808988"/>
                    </a:ext>
                  </a:extLst>
                </a:gridCol>
              </a:tblGrid>
              <a:tr h="37783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	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나만의 웹사이트 제작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작성자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강민경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603475"/>
                  </a:ext>
                </a:extLst>
              </a:tr>
              <a:tr h="37783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myweb</a:t>
                      </a:r>
                      <a:r>
                        <a:rPr lang="en-US" altLang="ko-KR" dirty="0"/>
                        <a:t>/detail.html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화면코드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P003_DETAIL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159880"/>
                  </a:ext>
                </a:extLst>
              </a:tr>
              <a:tr h="775230">
                <a:tc rowSpan="7" grid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7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b="1" dirty="0" err="1"/>
                        <a:t>메인페이지</a:t>
                      </a:r>
                      <a:r>
                        <a:rPr lang="ko-KR" altLang="en-US" b="1" dirty="0"/>
                        <a:t> </a:t>
                      </a:r>
                      <a:r>
                        <a:rPr lang="en-US" altLang="ko-KR" b="1" dirty="0"/>
                        <a:t>&gt; </a:t>
                      </a:r>
                      <a:r>
                        <a:rPr lang="ko-KR" altLang="en-US" b="1" dirty="0" err="1"/>
                        <a:t>레시피검색</a:t>
                      </a:r>
                      <a:r>
                        <a:rPr lang="en-US" altLang="ko-KR" b="1" dirty="0"/>
                        <a:t>(</a:t>
                      </a:r>
                      <a:r>
                        <a:rPr lang="ko-KR" altLang="en-US" b="1" dirty="0" err="1"/>
                        <a:t>모달</a:t>
                      </a:r>
                      <a:r>
                        <a:rPr lang="en-US" altLang="ko-KR" b="1" dirty="0"/>
                        <a:t>) &gt; </a:t>
                      </a:r>
                      <a:r>
                        <a:rPr lang="ko-KR" altLang="en-US" b="1" dirty="0"/>
                        <a:t>레시피 조회</a:t>
                      </a:r>
                      <a:endParaRPr lang="en-US" altLang="ko-KR" b="1" dirty="0"/>
                    </a:p>
                    <a:p>
                      <a:pPr latinLnBrk="1"/>
                      <a:r>
                        <a:rPr lang="ko-KR" altLang="en-US" b="0" dirty="0"/>
                        <a:t>자신이 가진 재료를 이용해 레시피를 검색해 볼 수 있다</a:t>
                      </a:r>
                      <a:r>
                        <a:rPr lang="en-US" altLang="ko-KR" b="0" dirty="0"/>
                        <a:t>.</a:t>
                      </a:r>
                      <a:endParaRPr lang="ko-KR" altLang="en-US" b="0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73490870"/>
                  </a:ext>
                </a:extLst>
              </a:tr>
              <a:tr h="72643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1" dirty="0" err="1"/>
                        <a:t>메뉴명</a:t>
                      </a:r>
                      <a:r>
                        <a:rPr lang="ko-KR" altLang="en-US" dirty="0"/>
                        <a:t> 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사용자가 선택한 메뉴의 이름이 나온다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94301912"/>
                  </a:ext>
                </a:extLst>
              </a:tr>
              <a:tr h="702330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메뉴사진</a:t>
                      </a:r>
                      <a:endParaRPr lang="en-US" altLang="ko-KR" b="1" dirty="0"/>
                    </a:p>
                    <a:p>
                      <a:pPr latinLnBrk="1"/>
                      <a:r>
                        <a:rPr lang="ko-KR" altLang="en-US" b="0" dirty="0"/>
                        <a:t>사용자가 선택한 메뉴의 사진이 나온다</a:t>
                      </a:r>
                      <a:r>
                        <a:rPr lang="en-US" altLang="ko-KR" b="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19595324"/>
                  </a:ext>
                </a:extLst>
              </a:tr>
              <a:tr h="1037764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재료</a:t>
                      </a:r>
                      <a:endParaRPr lang="en-US" altLang="ko-KR" b="1" dirty="0"/>
                    </a:p>
                    <a:p>
                      <a:pPr latinLnBrk="1"/>
                      <a:r>
                        <a:rPr lang="ko-KR" altLang="en-US" b="0" dirty="0"/>
                        <a:t>해당하는 요리에 필요한 재료들이 순서대로 나열되며</a:t>
                      </a:r>
                      <a:r>
                        <a:rPr lang="en-US" altLang="ko-KR" b="0" dirty="0"/>
                        <a:t>, </a:t>
                      </a:r>
                      <a:r>
                        <a:rPr lang="ko-KR" altLang="en-US" b="0" dirty="0"/>
                        <a:t>구매를 위한 장바구니 담기가 가능함</a:t>
                      </a:r>
                      <a:r>
                        <a:rPr lang="en-US" altLang="ko-KR" b="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17933046"/>
                  </a:ext>
                </a:extLst>
              </a:tr>
              <a:tr h="100447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담기</a:t>
                      </a:r>
                      <a:endParaRPr lang="en-US" altLang="ko-KR" b="1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사용자가 구매를 위해 해당 식재료를 담는다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이후 장바구니 페이지 이동시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볼 수 있다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656585710"/>
                  </a:ext>
                </a:extLst>
              </a:tr>
              <a:tr h="970568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장바구니 버튼</a:t>
                      </a:r>
                      <a:endParaRPr lang="en-US" altLang="ko-KR" b="1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레시히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 상세화면에서 담은 식재료가 있다면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장바구니 화면으로 이동 및 구매가 가능하다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372250227"/>
                  </a:ext>
                </a:extLst>
              </a:tr>
              <a:tr h="85712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조리방법</a:t>
                      </a:r>
                      <a:endParaRPr lang="en-US" altLang="ko-KR" b="1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사용자가 조회한 메뉴의 조리 방법이 나열된다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83394970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C590379A-89E8-DCF8-8DFE-C77389EAC0E9}"/>
              </a:ext>
            </a:extLst>
          </p:cNvPr>
          <p:cNvSpPr/>
          <p:nvPr/>
        </p:nvSpPr>
        <p:spPr>
          <a:xfrm>
            <a:off x="0" y="740974"/>
            <a:ext cx="6096000" cy="82056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518494-B9B1-C7BD-0797-9EE8593C9200}"/>
              </a:ext>
            </a:extLst>
          </p:cNvPr>
          <p:cNvSpPr txBox="1"/>
          <p:nvPr/>
        </p:nvSpPr>
        <p:spPr>
          <a:xfrm>
            <a:off x="1466850" y="1567919"/>
            <a:ext cx="3067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메뉴명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A103D41-90FB-234D-66E8-43AF38EED058}"/>
              </a:ext>
            </a:extLst>
          </p:cNvPr>
          <p:cNvSpPr/>
          <p:nvPr/>
        </p:nvSpPr>
        <p:spPr>
          <a:xfrm>
            <a:off x="1942059" y="1937251"/>
            <a:ext cx="2186755" cy="17021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메뉴 사진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E7D098-5C11-BA6D-AD66-B16C0F4F4D1B}"/>
              </a:ext>
            </a:extLst>
          </p:cNvPr>
          <p:cNvSpPr txBox="1"/>
          <p:nvPr/>
        </p:nvSpPr>
        <p:spPr>
          <a:xfrm>
            <a:off x="419100" y="3876524"/>
            <a:ext cx="516255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재료  </a:t>
            </a:r>
            <a:r>
              <a:rPr lang="en-US" altLang="ko-KR" dirty="0"/>
              <a:t>	</a:t>
            </a:r>
            <a:r>
              <a:rPr lang="ko-KR" altLang="en-US" dirty="0"/>
              <a:t>재료 </a:t>
            </a:r>
            <a:r>
              <a:rPr lang="en-US" altLang="ko-KR" dirty="0"/>
              <a:t>1			</a:t>
            </a:r>
            <a:r>
              <a:rPr lang="ko-KR" altLang="en-US" dirty="0"/>
              <a:t>담기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재료 </a:t>
            </a:r>
            <a:r>
              <a:rPr lang="en-US" altLang="ko-KR" dirty="0"/>
              <a:t>2			</a:t>
            </a:r>
            <a:r>
              <a:rPr lang="ko-KR" altLang="en-US" dirty="0"/>
              <a:t>담기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재료 </a:t>
            </a:r>
            <a:r>
              <a:rPr lang="en-US" altLang="ko-KR" dirty="0"/>
              <a:t>3			</a:t>
            </a:r>
            <a:r>
              <a:rPr lang="ko-KR" altLang="en-US" dirty="0"/>
              <a:t>담기</a:t>
            </a:r>
            <a:endParaRPr lang="en-US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7711D5-3677-65DE-2E33-0FF9D32AAFD6}"/>
              </a:ext>
            </a:extLst>
          </p:cNvPr>
          <p:cNvSpPr txBox="1"/>
          <p:nvPr/>
        </p:nvSpPr>
        <p:spPr>
          <a:xfrm>
            <a:off x="419100" y="4995461"/>
            <a:ext cx="516255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조리방법</a:t>
            </a:r>
            <a:endParaRPr lang="en-US" altLang="ko-KR" dirty="0"/>
          </a:p>
          <a:p>
            <a:r>
              <a:rPr lang="ko-KR" altLang="en-US" dirty="0"/>
              <a:t>방법 </a:t>
            </a:r>
            <a:r>
              <a:rPr lang="en-US" altLang="ko-KR" dirty="0"/>
              <a:t>1</a:t>
            </a:r>
          </a:p>
          <a:p>
            <a:r>
              <a:rPr lang="ko-KR" altLang="en-US" dirty="0"/>
              <a:t>방법 </a:t>
            </a:r>
            <a:r>
              <a:rPr lang="en-US" altLang="ko-KR" dirty="0"/>
              <a:t>2</a:t>
            </a:r>
          </a:p>
          <a:p>
            <a:r>
              <a:rPr lang="ko-KR" altLang="en-US" dirty="0"/>
              <a:t>방법 </a:t>
            </a:r>
            <a:r>
              <a:rPr lang="en-US" altLang="ko-KR" dirty="0"/>
              <a:t>3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F439BFD-BB21-DA41-63F7-FBC066F13CD2}"/>
              </a:ext>
            </a:extLst>
          </p:cNvPr>
          <p:cNvSpPr/>
          <p:nvPr/>
        </p:nvSpPr>
        <p:spPr>
          <a:xfrm>
            <a:off x="-12564" y="6354912"/>
            <a:ext cx="6096000" cy="47467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FOOTER</a:t>
            </a:r>
            <a:endParaRPr lang="ko-KR" altLang="en-US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E5E2809-1413-F175-6529-713065738CC9}"/>
              </a:ext>
            </a:extLst>
          </p:cNvPr>
          <p:cNvSpPr/>
          <p:nvPr/>
        </p:nvSpPr>
        <p:spPr>
          <a:xfrm>
            <a:off x="2094306" y="4744855"/>
            <a:ext cx="2196115" cy="36982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장바구니 버튼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D9D883-D93F-7755-6F70-6FDB5B4BF6A7}"/>
              </a:ext>
            </a:extLst>
          </p:cNvPr>
          <p:cNvSpPr txBox="1"/>
          <p:nvPr/>
        </p:nvSpPr>
        <p:spPr>
          <a:xfrm>
            <a:off x="2194678" y="1382320"/>
            <a:ext cx="631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1</a:t>
            </a:r>
            <a:endParaRPr lang="ko-KR" altLang="en-US" sz="32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56C8B9-8099-7995-73E7-D903FD180427}"/>
              </a:ext>
            </a:extLst>
          </p:cNvPr>
          <p:cNvSpPr txBox="1"/>
          <p:nvPr/>
        </p:nvSpPr>
        <p:spPr>
          <a:xfrm>
            <a:off x="1569022" y="1714360"/>
            <a:ext cx="5464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2</a:t>
            </a:r>
            <a:endParaRPr lang="ko-KR" altLang="en-US" sz="32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5B7020-76E6-BAF2-71E2-E711CD8921E6}"/>
              </a:ext>
            </a:extLst>
          </p:cNvPr>
          <p:cNvSpPr txBox="1"/>
          <p:nvPr/>
        </p:nvSpPr>
        <p:spPr>
          <a:xfrm>
            <a:off x="147364" y="3486333"/>
            <a:ext cx="631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3</a:t>
            </a:r>
            <a:endParaRPr lang="ko-KR" altLang="en-US" sz="32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FA40B9-51E3-22CA-6BBE-C7AFE19B52BE}"/>
              </a:ext>
            </a:extLst>
          </p:cNvPr>
          <p:cNvSpPr txBox="1"/>
          <p:nvPr/>
        </p:nvSpPr>
        <p:spPr>
          <a:xfrm>
            <a:off x="3768892" y="3559834"/>
            <a:ext cx="631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4</a:t>
            </a:r>
            <a:endParaRPr lang="ko-KR" altLang="en-US" sz="3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C0322C-742F-A0A5-0506-6E9BA24098E9}"/>
              </a:ext>
            </a:extLst>
          </p:cNvPr>
          <p:cNvSpPr txBox="1"/>
          <p:nvPr/>
        </p:nvSpPr>
        <p:spPr>
          <a:xfrm>
            <a:off x="1778477" y="4609891"/>
            <a:ext cx="631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5</a:t>
            </a:r>
            <a:endParaRPr lang="ko-KR" altLang="en-US" sz="32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953D63-4C83-FCD4-C1A0-BA2D065C1AD8}"/>
              </a:ext>
            </a:extLst>
          </p:cNvPr>
          <p:cNvSpPr txBox="1"/>
          <p:nvPr/>
        </p:nvSpPr>
        <p:spPr>
          <a:xfrm>
            <a:off x="171420" y="4609892"/>
            <a:ext cx="631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6</a:t>
            </a:r>
            <a:endParaRPr lang="ko-KR" altLang="en-US" sz="3200" b="1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BCF9FFD-AD9A-075F-F6A8-DB0C193E82D3}"/>
              </a:ext>
            </a:extLst>
          </p:cNvPr>
          <p:cNvSpPr/>
          <p:nvPr/>
        </p:nvSpPr>
        <p:spPr>
          <a:xfrm>
            <a:off x="2560654" y="916046"/>
            <a:ext cx="97469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로고</a:t>
            </a:r>
          </a:p>
        </p:txBody>
      </p:sp>
    </p:spTree>
    <p:extLst>
      <p:ext uri="{BB962C8B-B14F-4D97-AF65-F5344CB8AC3E}">
        <p14:creationId xmlns:p14="http://schemas.microsoft.com/office/powerpoint/2010/main" val="2263278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63644-3006-59AB-0FFD-ADAC8371E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1">
            <a:extLst>
              <a:ext uri="{FF2B5EF4-FFF2-40B4-BE49-F238E27FC236}">
                <a16:creationId xmlns:a16="http://schemas.microsoft.com/office/drawing/2014/main" id="{D4DF5EB9-EECC-E23D-5AD4-76A4EF846D79}"/>
              </a:ext>
            </a:extLst>
          </p:cNvPr>
          <p:cNvSpPr txBox="1">
            <a:spLocks/>
          </p:cNvSpPr>
          <p:nvPr/>
        </p:nvSpPr>
        <p:spPr>
          <a:xfrm>
            <a:off x="0" y="28411"/>
            <a:ext cx="2601799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3. </a:t>
            </a:r>
            <a:r>
              <a:rPr lang="ko-KR" altLang="en-US"/>
              <a:t>화면 설계</a:t>
            </a:r>
            <a:endParaRPr lang="ko-KR" altLang="en-US" dirty="0"/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BF384975-FB0B-4C20-2CEE-62F23A5CD696}"/>
              </a:ext>
            </a:extLst>
          </p:cNvPr>
          <p:cNvSpPr txBox="1">
            <a:spLocks/>
          </p:cNvSpPr>
          <p:nvPr/>
        </p:nvSpPr>
        <p:spPr>
          <a:xfrm>
            <a:off x="2601799" y="110100"/>
            <a:ext cx="7837333" cy="24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메인</a:t>
            </a:r>
            <a:endParaRPr lang="ko-KR" altLang="en-US" dirty="0"/>
          </a:p>
        </p:txBody>
      </p:sp>
      <p:graphicFrame>
        <p:nvGraphicFramePr>
          <p:cNvPr id="5" name="표 45">
            <a:extLst>
              <a:ext uri="{FF2B5EF4-FFF2-40B4-BE49-F238E27FC236}">
                <a16:creationId xmlns:a16="http://schemas.microsoft.com/office/drawing/2014/main" id="{8AC7520E-4C7B-2EB2-C679-5174DD7DF0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160536"/>
              </p:ext>
            </p:extLst>
          </p:nvPr>
        </p:nvGraphicFramePr>
        <p:xfrm>
          <a:off x="0" y="0"/>
          <a:ext cx="12192000" cy="7194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96959337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556436977"/>
                    </a:ext>
                  </a:extLst>
                </a:gridCol>
                <a:gridCol w="609601">
                  <a:extLst>
                    <a:ext uri="{9D8B030D-6E8A-4147-A177-3AD203B41FA5}">
                      <a16:colId xmlns:a16="http://schemas.microsoft.com/office/drawing/2014/main" val="1698211532"/>
                    </a:ext>
                  </a:extLst>
                </a:gridCol>
                <a:gridCol w="2438399">
                  <a:extLst>
                    <a:ext uri="{9D8B030D-6E8A-4147-A177-3AD203B41FA5}">
                      <a16:colId xmlns:a16="http://schemas.microsoft.com/office/drawing/2014/main" val="202833934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410808988"/>
                    </a:ext>
                  </a:extLst>
                </a:gridCol>
              </a:tblGrid>
              <a:tr h="4609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	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나만의 웹사이트 제작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작성자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강민경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603475"/>
                  </a:ext>
                </a:extLst>
              </a:tr>
              <a:tr h="49821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myweb</a:t>
                      </a:r>
                      <a:r>
                        <a:rPr lang="en-US" altLang="ko-KR" dirty="0"/>
                        <a:t>/cart.html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화면코드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P004_CART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159880"/>
                  </a:ext>
                </a:extLst>
              </a:tr>
              <a:tr h="750457">
                <a:tc rowSpan="5" grid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.. &gt; </a:t>
                      </a:r>
                      <a:r>
                        <a:rPr lang="ko-KR" altLang="en-US" b="1" dirty="0"/>
                        <a:t>레시피 조회 </a:t>
                      </a:r>
                      <a:r>
                        <a:rPr lang="en-US" altLang="ko-KR" b="1" dirty="0"/>
                        <a:t>&gt; </a:t>
                      </a:r>
                      <a:r>
                        <a:rPr lang="ko-KR" altLang="en-US" b="1" dirty="0"/>
                        <a:t>장바구니</a:t>
                      </a:r>
                      <a:endParaRPr lang="en-US" altLang="ko-KR" b="1" dirty="0"/>
                    </a:p>
                    <a:p>
                      <a:pPr latinLnBrk="1"/>
                      <a:r>
                        <a:rPr lang="ko-KR" altLang="en-US" b="0" dirty="0"/>
                        <a:t>자신이 장바구니에 담은 식재료를 조회 및 구매할 수 있다</a:t>
                      </a:r>
                      <a:r>
                        <a:rPr lang="en-US" altLang="ko-KR" b="0" dirty="0"/>
                        <a:t>.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490870"/>
                  </a:ext>
                </a:extLst>
              </a:tr>
              <a:tr h="70322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상품목록</a:t>
                      </a:r>
                      <a:r>
                        <a:rPr lang="ko-KR" altLang="en-US" dirty="0"/>
                        <a:t> </a:t>
                      </a:r>
                      <a:endParaRPr lang="en-US" altLang="ko-KR" dirty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/>
                        <a:t>사용자가 선택한 식재료들의 이름과 가격이 나온다</a:t>
                      </a:r>
                      <a:r>
                        <a:rPr lang="en-US" altLang="ko-KR" sz="1600" dirty="0"/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/>
                        <a:t>체크박스를 통해 구매 여부를 다시 결정할 수 있다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301912"/>
                  </a:ext>
                </a:extLst>
              </a:tr>
              <a:tr h="679886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구매버튼</a:t>
                      </a:r>
                      <a:endParaRPr lang="en-US" altLang="ko-KR" b="1" dirty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0" dirty="0"/>
                        <a:t>구매버튼 </a:t>
                      </a:r>
                      <a:r>
                        <a:rPr lang="ko-KR" altLang="en-US" sz="1600" b="0" dirty="0" err="1"/>
                        <a:t>클릭시</a:t>
                      </a:r>
                      <a:r>
                        <a:rPr lang="ko-KR" altLang="en-US" sz="1600" b="0" dirty="0"/>
                        <a:t> 자신이 체크한 식재료를 구매할 수 있다</a:t>
                      </a:r>
                      <a:r>
                        <a:rPr lang="en-US" altLang="ko-KR" sz="1600" b="0" dirty="0"/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b="0" dirty="0"/>
                        <a:t>화면이 스크롤되어 내려가며</a:t>
                      </a:r>
                      <a:r>
                        <a:rPr lang="en-US" altLang="ko-KR" sz="1600" b="0" dirty="0"/>
                        <a:t>, </a:t>
                      </a:r>
                      <a:r>
                        <a:rPr lang="ko-KR" altLang="en-US" sz="1600" b="0" dirty="0"/>
                        <a:t>사용자가 구매를 희망한 식재료의 총액과</a:t>
                      </a:r>
                      <a:r>
                        <a:rPr lang="en-US" altLang="ko-KR" sz="1600" b="0" dirty="0"/>
                        <a:t>, </a:t>
                      </a:r>
                      <a:r>
                        <a:rPr lang="ko-KR" altLang="en-US" sz="1600" b="0" dirty="0"/>
                        <a:t>개인정보를 적을 수 있는 폼이 나온다</a:t>
                      </a:r>
                      <a:r>
                        <a:rPr lang="en-US" altLang="ko-KR" sz="1600" b="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595324"/>
                  </a:ext>
                </a:extLst>
              </a:tr>
              <a:tr h="68362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구매자 정보 폼</a:t>
                      </a:r>
                      <a:endParaRPr lang="en-US" altLang="ko-KR" b="1" dirty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0" dirty="0"/>
                        <a:t>사용자의 개인정보 및 주문하는 상품을 받을 주소지를 입력할 수 있다</a:t>
                      </a:r>
                      <a:r>
                        <a:rPr lang="en-US" altLang="ko-KR" sz="1400" b="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7933046"/>
                  </a:ext>
                </a:extLst>
              </a:tr>
              <a:tr h="972373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담기</a:t>
                      </a:r>
                      <a:endParaRPr lang="en-US" altLang="ko-KR" b="1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사용자가 구매를 위해 해당 식재료를 담는다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이후 장바구니 페이지 이동시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볼 수 있다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585710"/>
                  </a:ext>
                </a:extLst>
              </a:tr>
              <a:tr h="939552">
                <a:tc grid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장바구니 버튼</a:t>
                      </a:r>
                      <a:endParaRPr lang="en-US" altLang="ko-KR" b="1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레시히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 상세화면에서 담은 식재료가 있다면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장바구니 화면으로 이동 및 구매가 가능하다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250227"/>
                  </a:ext>
                </a:extLst>
              </a:tr>
              <a:tr h="829732">
                <a:tc grid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</a:rPr>
                        <a:t>조리방법</a:t>
                      </a:r>
                      <a:endParaRPr lang="en-US" altLang="ko-KR" b="1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사용자가 조회한 메뉴의 조리 방법이 나열된다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3394970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DF4A2C4E-EDA3-2490-072E-6C6DB904980B}"/>
              </a:ext>
            </a:extLst>
          </p:cNvPr>
          <p:cNvSpPr/>
          <p:nvPr/>
        </p:nvSpPr>
        <p:spPr>
          <a:xfrm>
            <a:off x="0" y="1000793"/>
            <a:ext cx="6096000" cy="63680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B5F79E9-B29A-0E23-5F92-4D510B57461B}"/>
              </a:ext>
            </a:extLst>
          </p:cNvPr>
          <p:cNvSpPr/>
          <p:nvPr/>
        </p:nvSpPr>
        <p:spPr>
          <a:xfrm>
            <a:off x="2601799" y="1000793"/>
            <a:ext cx="930442" cy="4989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280C187-A1F8-3E32-6977-AFBAF47C9DBF}"/>
              </a:ext>
            </a:extLst>
          </p:cNvPr>
          <p:cNvSpPr/>
          <p:nvPr/>
        </p:nvSpPr>
        <p:spPr>
          <a:xfrm>
            <a:off x="0" y="6965469"/>
            <a:ext cx="6096000" cy="51665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FOOTER</a:t>
            </a:r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E79B8F4-C8C3-6175-8151-681FF0336D7A}"/>
              </a:ext>
            </a:extLst>
          </p:cNvPr>
          <p:cNvSpPr/>
          <p:nvPr/>
        </p:nvSpPr>
        <p:spPr>
          <a:xfrm>
            <a:off x="716816" y="1722077"/>
            <a:ext cx="4700407" cy="17615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상품목록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ㅁ</a:t>
            </a:r>
            <a:r>
              <a:rPr lang="ko-KR" altLang="en-US" dirty="0">
                <a:solidFill>
                  <a:schemeClr val="tx1"/>
                </a:solidFill>
              </a:rPr>
              <a:t> 상품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ㅁ</a:t>
            </a:r>
            <a:r>
              <a:rPr lang="ko-KR" altLang="en-US" dirty="0">
                <a:solidFill>
                  <a:schemeClr val="tx1"/>
                </a:solidFill>
              </a:rPr>
              <a:t> 상품 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ㅁ</a:t>
            </a:r>
            <a:r>
              <a:rPr lang="ko-KR" altLang="en-US" dirty="0">
                <a:solidFill>
                  <a:schemeClr val="tx1"/>
                </a:solidFill>
              </a:rPr>
              <a:t> 상품 </a:t>
            </a:r>
            <a:r>
              <a:rPr lang="en-US" altLang="ko-KR" dirty="0">
                <a:solidFill>
                  <a:schemeClr val="tx1"/>
                </a:solidFill>
              </a:rPr>
              <a:t>3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79C235B-53B8-F2DC-84BC-E534E2D424BE}"/>
              </a:ext>
            </a:extLst>
          </p:cNvPr>
          <p:cNvSpPr/>
          <p:nvPr/>
        </p:nvSpPr>
        <p:spPr>
          <a:xfrm>
            <a:off x="716816" y="3900056"/>
            <a:ext cx="4700407" cy="234834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구매자 정보 입력 폼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23E76EE-405A-CE9A-1B22-35BC56A86073}"/>
              </a:ext>
            </a:extLst>
          </p:cNvPr>
          <p:cNvSpPr/>
          <p:nvPr/>
        </p:nvSpPr>
        <p:spPr>
          <a:xfrm>
            <a:off x="2336374" y="3559141"/>
            <a:ext cx="1423252" cy="25036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구매하기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2170EC-FB9F-0F71-B3E1-FAB0CF44473B}"/>
              </a:ext>
            </a:extLst>
          </p:cNvPr>
          <p:cNvSpPr txBox="1"/>
          <p:nvPr/>
        </p:nvSpPr>
        <p:spPr>
          <a:xfrm>
            <a:off x="400987" y="1525186"/>
            <a:ext cx="631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1</a:t>
            </a:r>
            <a:endParaRPr lang="ko-KR" altLang="en-US" sz="32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3AC0EE-974B-D9E5-EE88-3A964338D8BF}"/>
              </a:ext>
            </a:extLst>
          </p:cNvPr>
          <p:cNvSpPr txBox="1"/>
          <p:nvPr/>
        </p:nvSpPr>
        <p:spPr>
          <a:xfrm>
            <a:off x="2155322" y="3025814"/>
            <a:ext cx="631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2</a:t>
            </a:r>
            <a:endParaRPr lang="ko-KR" altLang="en-US" sz="32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055545-CF67-0367-379F-3AE1DF04EE2F}"/>
              </a:ext>
            </a:extLst>
          </p:cNvPr>
          <p:cNvSpPr txBox="1"/>
          <p:nvPr/>
        </p:nvSpPr>
        <p:spPr>
          <a:xfrm>
            <a:off x="400987" y="3562802"/>
            <a:ext cx="631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3</a:t>
            </a:r>
            <a:endParaRPr lang="ko-KR" altLang="en-US" sz="3200" b="1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BAE6522-1BE8-43A3-D3E9-089C5749069A}"/>
              </a:ext>
            </a:extLst>
          </p:cNvPr>
          <p:cNvSpPr/>
          <p:nvPr/>
        </p:nvSpPr>
        <p:spPr>
          <a:xfrm>
            <a:off x="716816" y="6380219"/>
            <a:ext cx="4700407" cy="41305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주문하기</a:t>
            </a:r>
            <a:endParaRPr lang="en-US" altLang="ko-KR" dirty="0">
              <a:solidFill>
                <a:schemeClr val="tx1"/>
              </a:solidFill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D67BC4C-E2C6-36ED-0A2D-31E062551ACE}"/>
              </a:ext>
            </a:extLst>
          </p:cNvPr>
          <p:cNvCxnSpPr>
            <a:cxnSpLocks/>
          </p:cNvCxnSpPr>
          <p:nvPr/>
        </p:nvCxnSpPr>
        <p:spPr>
          <a:xfrm>
            <a:off x="779022" y="2140719"/>
            <a:ext cx="463820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1434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75DFB-509C-4D36-C154-00FCE10DC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1">
            <a:extLst>
              <a:ext uri="{FF2B5EF4-FFF2-40B4-BE49-F238E27FC236}">
                <a16:creationId xmlns:a16="http://schemas.microsoft.com/office/drawing/2014/main" id="{C7042AE0-4030-64F0-61C8-A1D2F0387E27}"/>
              </a:ext>
            </a:extLst>
          </p:cNvPr>
          <p:cNvSpPr txBox="1">
            <a:spLocks/>
          </p:cNvSpPr>
          <p:nvPr/>
        </p:nvSpPr>
        <p:spPr>
          <a:xfrm>
            <a:off x="0" y="28411"/>
            <a:ext cx="2601799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3. </a:t>
            </a:r>
            <a:r>
              <a:rPr lang="ko-KR" altLang="en-US"/>
              <a:t>화면 설계</a:t>
            </a:r>
            <a:endParaRPr lang="ko-KR" altLang="en-US" dirty="0"/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0D96023C-629D-8242-E2B3-371D7092D551}"/>
              </a:ext>
            </a:extLst>
          </p:cNvPr>
          <p:cNvSpPr txBox="1">
            <a:spLocks/>
          </p:cNvSpPr>
          <p:nvPr/>
        </p:nvSpPr>
        <p:spPr>
          <a:xfrm>
            <a:off x="2601799" y="110100"/>
            <a:ext cx="7837333" cy="24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메인</a:t>
            </a:r>
            <a:endParaRPr lang="ko-KR" altLang="en-US" dirty="0"/>
          </a:p>
        </p:txBody>
      </p:sp>
      <p:graphicFrame>
        <p:nvGraphicFramePr>
          <p:cNvPr id="5" name="표 45">
            <a:extLst>
              <a:ext uri="{FF2B5EF4-FFF2-40B4-BE49-F238E27FC236}">
                <a16:creationId xmlns:a16="http://schemas.microsoft.com/office/drawing/2014/main" id="{BA104461-3F69-5EB5-4C61-BC8DDF1DF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315422"/>
              </p:ext>
            </p:extLst>
          </p:nvPr>
        </p:nvGraphicFramePr>
        <p:xfrm>
          <a:off x="0" y="-2652"/>
          <a:ext cx="12192000" cy="3789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96959337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556436977"/>
                    </a:ext>
                  </a:extLst>
                </a:gridCol>
                <a:gridCol w="609601">
                  <a:extLst>
                    <a:ext uri="{9D8B030D-6E8A-4147-A177-3AD203B41FA5}">
                      <a16:colId xmlns:a16="http://schemas.microsoft.com/office/drawing/2014/main" val="1698211532"/>
                    </a:ext>
                  </a:extLst>
                </a:gridCol>
                <a:gridCol w="2438399">
                  <a:extLst>
                    <a:ext uri="{9D8B030D-6E8A-4147-A177-3AD203B41FA5}">
                      <a16:colId xmlns:a16="http://schemas.microsoft.com/office/drawing/2014/main" val="202833934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410808988"/>
                    </a:ext>
                  </a:extLst>
                </a:gridCol>
              </a:tblGrid>
              <a:tr h="4936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	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나만의 웹사이트 제작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작성자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강민경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603475"/>
                  </a:ext>
                </a:extLst>
              </a:tr>
              <a:tr h="53364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myweb</a:t>
                      </a:r>
                      <a:r>
                        <a:rPr lang="en-US" altLang="ko-KR" dirty="0"/>
                        <a:t>/frm_submit.html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dirty="0"/>
                        <a:t>화면코드</a:t>
                      </a:r>
                      <a:endParaRPr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P005_SUBMIT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159880"/>
                  </a:ext>
                </a:extLst>
              </a:tr>
              <a:tr h="803813">
                <a:tc rowSpan="3" grid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..</a:t>
                      </a:r>
                      <a:r>
                        <a:rPr lang="ko-KR" altLang="en-US" b="1" dirty="0"/>
                        <a:t> </a:t>
                      </a:r>
                      <a:r>
                        <a:rPr lang="en-US" altLang="ko-KR" b="1" dirty="0"/>
                        <a:t>&gt; </a:t>
                      </a:r>
                      <a:r>
                        <a:rPr lang="ko-KR" altLang="en-US" b="1" dirty="0"/>
                        <a:t>장바구니 </a:t>
                      </a:r>
                      <a:r>
                        <a:rPr lang="en-US" altLang="ko-KR" b="1" dirty="0"/>
                        <a:t>&gt; </a:t>
                      </a:r>
                      <a:r>
                        <a:rPr lang="ko-KR" altLang="en-US" b="1" dirty="0"/>
                        <a:t>주문 완료 페이지</a:t>
                      </a:r>
                      <a:endParaRPr lang="en-US" altLang="ko-KR" b="1" dirty="0"/>
                    </a:p>
                    <a:p>
                      <a:pPr latinLnBrk="1"/>
                      <a:r>
                        <a:rPr lang="ko-KR" altLang="en-US" b="0" dirty="0"/>
                        <a:t>자신이 작성한 개인정보와 배송 상세정보를 볼 수 있다</a:t>
                      </a:r>
                      <a:r>
                        <a:rPr lang="en-US" altLang="ko-KR" b="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73490870"/>
                  </a:ext>
                </a:extLst>
              </a:tr>
              <a:tr h="97941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주문자 정보</a:t>
                      </a:r>
                      <a:r>
                        <a:rPr lang="ko-KR" altLang="en-US" dirty="0"/>
                        <a:t> 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이전 폼에 작성한 자신의 개인정보를 조회해볼 수 있다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94301912"/>
                  </a:ext>
                </a:extLst>
              </a:tr>
              <a:tr h="979412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1" dirty="0" err="1"/>
                        <a:t>홈버튼</a:t>
                      </a:r>
                      <a:endParaRPr lang="en-US" altLang="ko-KR" b="1" dirty="0"/>
                    </a:p>
                    <a:p>
                      <a:pPr latinLnBrk="1"/>
                      <a:r>
                        <a:rPr lang="ko-KR" altLang="en-US" b="0" dirty="0"/>
                        <a:t>사용자가 더 이상 진행할 태스크가 없으므로 홈으로 이동한다</a:t>
                      </a:r>
                      <a:r>
                        <a:rPr lang="en-US" altLang="ko-KR" b="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19595324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3B73CC56-AB3A-A1F0-66E9-0C2C52A1812A}"/>
              </a:ext>
            </a:extLst>
          </p:cNvPr>
          <p:cNvSpPr/>
          <p:nvPr/>
        </p:nvSpPr>
        <p:spPr>
          <a:xfrm>
            <a:off x="0" y="1029453"/>
            <a:ext cx="5962620" cy="60071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2DD917D-515C-74CC-2D5E-A3A7DD8EBABC}"/>
              </a:ext>
            </a:extLst>
          </p:cNvPr>
          <p:cNvSpPr/>
          <p:nvPr/>
        </p:nvSpPr>
        <p:spPr>
          <a:xfrm>
            <a:off x="2601799" y="1087328"/>
            <a:ext cx="930442" cy="4989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2167C11-4B24-CC9E-887D-11C2394239C0}"/>
              </a:ext>
            </a:extLst>
          </p:cNvPr>
          <p:cNvSpPr/>
          <p:nvPr/>
        </p:nvSpPr>
        <p:spPr>
          <a:xfrm>
            <a:off x="0" y="6486090"/>
            <a:ext cx="5962620" cy="37190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FOOTER</a:t>
            </a:r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DBE0F81-1871-7B6D-EC69-8A9CC664A41E}"/>
              </a:ext>
            </a:extLst>
          </p:cNvPr>
          <p:cNvSpPr/>
          <p:nvPr/>
        </p:nvSpPr>
        <p:spPr>
          <a:xfrm>
            <a:off x="147364" y="1857829"/>
            <a:ext cx="5791200" cy="43542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1"/>
                </a:solidFill>
              </a:rPr>
              <a:t>주문자 정보</a:t>
            </a:r>
            <a:endParaRPr lang="en-US" altLang="ko-KR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1"/>
                </a:solidFill>
              </a:rPr>
              <a:t>이름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홍길동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1"/>
                </a:solidFill>
              </a:rPr>
              <a:t>전화번호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[010-3333-4444]</a:t>
            </a:r>
          </a:p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1"/>
                </a:solidFill>
              </a:rPr>
              <a:t>이메일</a:t>
            </a:r>
            <a:r>
              <a:rPr lang="en-US" altLang="ko-KR" dirty="0">
                <a:solidFill>
                  <a:schemeClr val="tx1"/>
                </a:solidFill>
              </a:rPr>
              <a:t>[hong@naver.com]</a:t>
            </a:r>
          </a:p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1"/>
                </a:solidFill>
              </a:rPr>
              <a:t>우편번호</a:t>
            </a:r>
            <a:r>
              <a:rPr lang="en-US" altLang="ko-KR" dirty="0">
                <a:solidFill>
                  <a:schemeClr val="tx1"/>
                </a:solidFill>
              </a:rPr>
              <a:t>[1111]</a:t>
            </a:r>
          </a:p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1"/>
                </a:solidFill>
              </a:rPr>
              <a:t>주소</a:t>
            </a:r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대한민국 한반도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1"/>
                </a:solidFill>
              </a:rPr>
              <a:t>상세주소</a:t>
            </a:r>
            <a:r>
              <a:rPr lang="en-US" altLang="ko-KR" dirty="0">
                <a:solidFill>
                  <a:schemeClr val="tx1"/>
                </a:solidFill>
              </a:rPr>
              <a:t>[102</a:t>
            </a:r>
            <a:r>
              <a:rPr lang="ko-KR" altLang="en-US" dirty="0">
                <a:solidFill>
                  <a:schemeClr val="tx1"/>
                </a:solidFill>
              </a:rPr>
              <a:t>동 </a:t>
            </a:r>
            <a:r>
              <a:rPr lang="en-US" altLang="ko-KR" dirty="0">
                <a:solidFill>
                  <a:schemeClr val="tx1"/>
                </a:solidFill>
              </a:rPr>
              <a:t>11</a:t>
            </a:r>
            <a:r>
              <a:rPr lang="ko-KR" altLang="en-US" dirty="0">
                <a:solidFill>
                  <a:schemeClr val="tx1"/>
                </a:solidFill>
              </a:rPr>
              <a:t>호</a:t>
            </a:r>
            <a:r>
              <a:rPr lang="en-US" altLang="ko-KR" dirty="0">
                <a:solidFill>
                  <a:schemeClr val="tx1"/>
                </a:solidFill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chemeClr val="tx1"/>
                </a:solidFill>
              </a:rPr>
              <a:t>요청사항</a:t>
            </a:r>
            <a:endParaRPr lang="en-US" altLang="ko-KR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빠른 배송 감사합니다</a:t>
            </a:r>
            <a:r>
              <a:rPr lang="en-US" altLang="ko-KR" dirty="0">
                <a:solidFill>
                  <a:schemeClr val="tx1"/>
                </a:solidFill>
              </a:rPr>
              <a:t>.]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DD13EE0-6F2B-0C8E-C0B3-5CEEB9AD3678}"/>
              </a:ext>
            </a:extLst>
          </p:cNvPr>
          <p:cNvSpPr/>
          <p:nvPr/>
        </p:nvSpPr>
        <p:spPr>
          <a:xfrm>
            <a:off x="539647" y="5774144"/>
            <a:ext cx="1077044" cy="326711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홈으로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CDA123-D9A0-B93E-E952-F081472E02B7}"/>
              </a:ext>
            </a:extLst>
          </p:cNvPr>
          <p:cNvSpPr txBox="1"/>
          <p:nvPr/>
        </p:nvSpPr>
        <p:spPr>
          <a:xfrm>
            <a:off x="53308" y="5645111"/>
            <a:ext cx="631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2</a:t>
            </a:r>
            <a:endParaRPr lang="ko-KR" altLang="en-US" sz="3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474A70-F2CD-89EE-FF98-854A591A4E5A}"/>
              </a:ext>
            </a:extLst>
          </p:cNvPr>
          <p:cNvSpPr txBox="1"/>
          <p:nvPr/>
        </p:nvSpPr>
        <p:spPr>
          <a:xfrm>
            <a:off x="0" y="1499770"/>
            <a:ext cx="631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1</a:t>
            </a:r>
            <a:endParaRPr lang="ko-KR" altLang="en-US" sz="3200" b="1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5F44A9F-67CA-4417-BCCF-7608CB6552B1}"/>
              </a:ext>
            </a:extLst>
          </p:cNvPr>
          <p:cNvSpPr/>
          <p:nvPr/>
        </p:nvSpPr>
        <p:spPr>
          <a:xfrm>
            <a:off x="9792182" y="6319777"/>
            <a:ext cx="2303362" cy="4281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3705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8BFF2-B9C8-9011-81D6-CE73AB3A8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FC107BFB-6F9E-EC75-A159-E3D4B6BA544A}"/>
              </a:ext>
            </a:extLst>
          </p:cNvPr>
          <p:cNvSpPr txBox="1">
            <a:spLocks/>
          </p:cNvSpPr>
          <p:nvPr/>
        </p:nvSpPr>
        <p:spPr>
          <a:xfrm>
            <a:off x="2560187" y="110102"/>
            <a:ext cx="7837333" cy="24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메인</a:t>
            </a:r>
            <a:endParaRPr lang="ko-KR" altLang="en-US" dirty="0"/>
          </a:p>
        </p:txBody>
      </p:sp>
      <p:sp>
        <p:nvSpPr>
          <p:cNvPr id="3" name="텍스트 개체 틀 1">
            <a:extLst>
              <a:ext uri="{FF2B5EF4-FFF2-40B4-BE49-F238E27FC236}">
                <a16:creationId xmlns:a16="http://schemas.microsoft.com/office/drawing/2014/main" id="{43B8C9CD-871F-4C34-B4EF-B8489949D353}"/>
              </a:ext>
            </a:extLst>
          </p:cNvPr>
          <p:cNvSpPr txBox="1">
            <a:spLocks/>
          </p:cNvSpPr>
          <p:nvPr/>
        </p:nvSpPr>
        <p:spPr>
          <a:xfrm>
            <a:off x="0" y="28411"/>
            <a:ext cx="2601799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3. </a:t>
            </a:r>
            <a:r>
              <a:rPr lang="ko-KR" altLang="en-US"/>
              <a:t>화면 설계</a:t>
            </a:r>
            <a:endParaRPr lang="ko-KR" altLang="en-US" dirty="0"/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F5EE71AB-667F-0DF4-4C93-7979B843D8A4}"/>
              </a:ext>
            </a:extLst>
          </p:cNvPr>
          <p:cNvSpPr txBox="1">
            <a:spLocks/>
          </p:cNvSpPr>
          <p:nvPr/>
        </p:nvSpPr>
        <p:spPr>
          <a:xfrm>
            <a:off x="2601799" y="110100"/>
            <a:ext cx="7837333" cy="24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메인</a:t>
            </a:r>
            <a:endParaRPr lang="ko-KR" altLang="en-US" dirty="0"/>
          </a:p>
        </p:txBody>
      </p:sp>
      <p:graphicFrame>
        <p:nvGraphicFramePr>
          <p:cNvPr id="5" name="표 45">
            <a:extLst>
              <a:ext uri="{FF2B5EF4-FFF2-40B4-BE49-F238E27FC236}">
                <a16:creationId xmlns:a16="http://schemas.microsoft.com/office/drawing/2014/main" id="{D00FF4C7-5757-5398-134F-C4E3B86460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007104"/>
              </p:ext>
            </p:extLst>
          </p:nvPr>
        </p:nvGraphicFramePr>
        <p:xfrm>
          <a:off x="-15766" y="0"/>
          <a:ext cx="12249379" cy="46903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1169">
                  <a:extLst>
                    <a:ext uri="{9D8B030D-6E8A-4147-A177-3AD203B41FA5}">
                      <a16:colId xmlns:a16="http://schemas.microsoft.com/office/drawing/2014/main" val="2969593370"/>
                    </a:ext>
                  </a:extLst>
                </a:gridCol>
                <a:gridCol w="3446398">
                  <a:extLst>
                    <a:ext uri="{9D8B030D-6E8A-4147-A177-3AD203B41FA5}">
                      <a16:colId xmlns:a16="http://schemas.microsoft.com/office/drawing/2014/main" val="3556436977"/>
                    </a:ext>
                  </a:extLst>
                </a:gridCol>
                <a:gridCol w="260062">
                  <a:extLst>
                    <a:ext uri="{9D8B030D-6E8A-4147-A177-3AD203B41FA5}">
                      <a16:colId xmlns:a16="http://schemas.microsoft.com/office/drawing/2014/main" val="1698211532"/>
                    </a:ext>
                  </a:extLst>
                </a:gridCol>
                <a:gridCol w="2436333">
                  <a:extLst>
                    <a:ext uri="{9D8B030D-6E8A-4147-A177-3AD203B41FA5}">
                      <a16:colId xmlns:a16="http://schemas.microsoft.com/office/drawing/2014/main" val="2028339346"/>
                    </a:ext>
                  </a:extLst>
                </a:gridCol>
                <a:gridCol w="3045417">
                  <a:extLst>
                    <a:ext uri="{9D8B030D-6E8A-4147-A177-3AD203B41FA5}">
                      <a16:colId xmlns:a16="http://schemas.microsoft.com/office/drawing/2014/main" val="3410808988"/>
                    </a:ext>
                  </a:extLst>
                </a:gridCol>
              </a:tblGrid>
              <a:tr h="45701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	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나만의 웹사이트 제작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작성자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강민경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603475"/>
                  </a:ext>
                </a:extLst>
              </a:tr>
              <a:tr h="494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myweb</a:t>
                      </a:r>
                      <a:r>
                        <a:rPr lang="en-US" altLang="ko-KR" dirty="0"/>
                        <a:t>/chatbot.html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ko-KR" altLang="en-US" b="1" dirty="0"/>
                        <a:t>화면코드</a:t>
                      </a:r>
                      <a:endParaRPr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P006_CHATBOT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5159880"/>
                  </a:ext>
                </a:extLst>
              </a:tr>
              <a:tr h="996112">
                <a:tc rowSpan="4" grid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b="1" dirty="0" err="1"/>
                        <a:t>메인페이지</a:t>
                      </a:r>
                      <a:r>
                        <a:rPr lang="ko-KR" altLang="en-US" b="1" dirty="0"/>
                        <a:t> </a:t>
                      </a:r>
                      <a:r>
                        <a:rPr lang="en-US" altLang="ko-KR" b="1" dirty="0"/>
                        <a:t>:</a:t>
                      </a:r>
                    </a:p>
                    <a:p>
                      <a:pPr latinLnBrk="1"/>
                      <a:r>
                        <a:rPr lang="ko-KR" altLang="en-US" b="0" dirty="0"/>
                        <a:t>웹사이트가 어떤 기능을 하는지 한눈에 볼 수 있으며</a:t>
                      </a:r>
                      <a:r>
                        <a:rPr lang="en-US" altLang="ko-KR" b="0" dirty="0"/>
                        <a:t>, </a:t>
                      </a:r>
                      <a:r>
                        <a:rPr lang="ko-KR" altLang="en-US" b="0" dirty="0"/>
                        <a:t>각각의 기능을 하는 메뉴가 화면에 배치되어 있다</a:t>
                      </a:r>
                      <a:r>
                        <a:rPr lang="en-US" altLang="ko-KR" b="0" dirty="0"/>
                        <a:t>.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73490870"/>
                  </a:ext>
                </a:extLst>
              </a:tr>
              <a:tr h="697279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Ai</a:t>
                      </a:r>
                      <a:r>
                        <a:rPr lang="ko-KR" altLang="en-US" b="1" dirty="0"/>
                        <a:t> </a:t>
                      </a:r>
                      <a:r>
                        <a:rPr lang="ko-KR" altLang="en-US" b="1" dirty="0" err="1"/>
                        <a:t>멘트창</a:t>
                      </a:r>
                      <a:endParaRPr lang="en-US" altLang="ko-KR" b="1" dirty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/>
                        <a:t>AI</a:t>
                      </a:r>
                      <a:r>
                        <a:rPr lang="ko-KR" altLang="en-US" dirty="0"/>
                        <a:t>의 설정된 초기 문구가 나오며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이후 질문에 대한 답변이 출력된다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레시피 관련 질문이 </a:t>
                      </a:r>
                      <a:r>
                        <a:rPr lang="ko-KR" altLang="en-US" dirty="0" err="1"/>
                        <a:t>아닐시</a:t>
                      </a:r>
                      <a:r>
                        <a:rPr lang="en-US" altLang="ko-KR" dirty="0"/>
                        <a:t>,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재질문</a:t>
                      </a:r>
                      <a:r>
                        <a:rPr lang="ko-KR" altLang="en-US" dirty="0"/>
                        <a:t> 요청 답변이 온다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894301912"/>
                  </a:ext>
                </a:extLst>
              </a:tr>
              <a:tr h="56383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사용자 </a:t>
                      </a:r>
                      <a:r>
                        <a:rPr lang="ko-KR" altLang="en-US" b="1" dirty="0" err="1"/>
                        <a:t>멘트창</a:t>
                      </a:r>
                      <a:endParaRPr lang="en-US" altLang="ko-KR" b="1" dirty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사용자가 질문한 문구가 출력된다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19595324"/>
                  </a:ext>
                </a:extLst>
              </a:tr>
              <a:tr h="536260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질문 </a:t>
                      </a:r>
                      <a:r>
                        <a:rPr lang="ko-KR" altLang="en-US" b="1" dirty="0" err="1"/>
                        <a:t>입력칸</a:t>
                      </a:r>
                      <a:endParaRPr lang="en-US" altLang="ko-KR" b="1" dirty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사용자가 질문할 </a:t>
                      </a:r>
                      <a:r>
                        <a:rPr lang="ko-KR" altLang="en-US" dirty="0" err="1"/>
                        <a:t>입력칸이</a:t>
                      </a:r>
                      <a:r>
                        <a:rPr lang="ko-KR" altLang="en-US" dirty="0"/>
                        <a:t> 나온다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E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217933046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F7784D10-5C6C-B88F-51F3-87A170EFE681}"/>
              </a:ext>
            </a:extLst>
          </p:cNvPr>
          <p:cNvSpPr/>
          <p:nvPr/>
        </p:nvSpPr>
        <p:spPr>
          <a:xfrm>
            <a:off x="-15766" y="923382"/>
            <a:ext cx="6492516" cy="93535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10C10C3-DFED-C442-0DA3-1EA7B300A989}"/>
              </a:ext>
            </a:extLst>
          </p:cNvPr>
          <p:cNvSpPr/>
          <p:nvPr/>
        </p:nvSpPr>
        <p:spPr>
          <a:xfrm>
            <a:off x="0" y="1872634"/>
            <a:ext cx="6476750" cy="412879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이미지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AE49BF3-53BB-3E49-81B2-06D074A2461E}"/>
              </a:ext>
            </a:extLst>
          </p:cNvPr>
          <p:cNvSpPr/>
          <p:nvPr/>
        </p:nvSpPr>
        <p:spPr>
          <a:xfrm>
            <a:off x="0" y="6080017"/>
            <a:ext cx="6476749" cy="77798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FOOTER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FBC854F-D3F2-7657-068D-3BD0795AF66D}"/>
              </a:ext>
            </a:extLst>
          </p:cNvPr>
          <p:cNvSpPr/>
          <p:nvPr/>
        </p:nvSpPr>
        <p:spPr>
          <a:xfrm>
            <a:off x="5655232" y="5541403"/>
            <a:ext cx="821517" cy="64406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챗봇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6900C6-EB25-B674-CE41-168766C699B8}"/>
              </a:ext>
            </a:extLst>
          </p:cNvPr>
          <p:cNvSpPr txBox="1"/>
          <p:nvPr/>
        </p:nvSpPr>
        <p:spPr>
          <a:xfrm>
            <a:off x="3237468" y="1279075"/>
            <a:ext cx="1623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tx1"/>
                </a:solidFill>
              </a:rPr>
              <a:t>레시피 검색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D27938-230C-7315-9E31-AD154DD39FA0}"/>
              </a:ext>
            </a:extLst>
          </p:cNvPr>
          <p:cNvSpPr txBox="1"/>
          <p:nvPr/>
        </p:nvSpPr>
        <p:spPr>
          <a:xfrm>
            <a:off x="4855715" y="1279075"/>
            <a:ext cx="1126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장바구니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DD85C0E-635C-0D20-4FAD-AB3C4D834195}"/>
              </a:ext>
            </a:extLst>
          </p:cNvPr>
          <p:cNvSpPr/>
          <p:nvPr/>
        </p:nvSpPr>
        <p:spPr>
          <a:xfrm>
            <a:off x="333847" y="1279075"/>
            <a:ext cx="97469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CCF2A43-67A9-904C-F956-5180CA7D5BBD}"/>
              </a:ext>
            </a:extLst>
          </p:cNvPr>
          <p:cNvSpPr/>
          <p:nvPr/>
        </p:nvSpPr>
        <p:spPr>
          <a:xfrm>
            <a:off x="-1" y="954447"/>
            <a:ext cx="6492516" cy="5889656"/>
          </a:xfrm>
          <a:prstGeom prst="rect">
            <a:avLst/>
          </a:prstGeom>
          <a:solidFill>
            <a:srgbClr val="B6B8B8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ABC9428-2A45-FEA1-16C1-F6754E43F1B6}"/>
              </a:ext>
            </a:extLst>
          </p:cNvPr>
          <p:cNvSpPr/>
          <p:nvPr/>
        </p:nvSpPr>
        <p:spPr>
          <a:xfrm>
            <a:off x="645013" y="1062558"/>
            <a:ext cx="4818743" cy="555917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5FA7845-2FD2-2349-A87C-B1767764DD13}"/>
              </a:ext>
            </a:extLst>
          </p:cNvPr>
          <p:cNvSpPr/>
          <p:nvPr/>
        </p:nvSpPr>
        <p:spPr>
          <a:xfrm>
            <a:off x="765927" y="1535015"/>
            <a:ext cx="4360408" cy="410457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5BF1ABD-8CE6-FD27-DB37-9A0C71945A2E}"/>
              </a:ext>
            </a:extLst>
          </p:cNvPr>
          <p:cNvSpPr/>
          <p:nvPr/>
        </p:nvSpPr>
        <p:spPr>
          <a:xfrm>
            <a:off x="944249" y="5791727"/>
            <a:ext cx="4091111" cy="37444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CD5F6C-9E9E-0D49-2D33-B1433B6D39A8}"/>
              </a:ext>
            </a:extLst>
          </p:cNvPr>
          <p:cNvSpPr txBox="1"/>
          <p:nvPr/>
        </p:nvSpPr>
        <p:spPr>
          <a:xfrm>
            <a:off x="2200566" y="1222043"/>
            <a:ext cx="1597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AI</a:t>
            </a:r>
            <a:r>
              <a:rPr lang="ko-KR" altLang="en-US" dirty="0"/>
              <a:t> 요리 비서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50E60289-0E5C-F7FB-D849-FD8915BB01C4}"/>
              </a:ext>
            </a:extLst>
          </p:cNvPr>
          <p:cNvSpPr/>
          <p:nvPr/>
        </p:nvSpPr>
        <p:spPr>
          <a:xfrm>
            <a:off x="1003493" y="1903753"/>
            <a:ext cx="1886102" cy="3693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09E9D5D-108D-51D7-CC4F-701531624735}"/>
              </a:ext>
            </a:extLst>
          </p:cNvPr>
          <p:cNvSpPr/>
          <p:nvPr/>
        </p:nvSpPr>
        <p:spPr>
          <a:xfrm>
            <a:off x="3150277" y="2334038"/>
            <a:ext cx="1886102" cy="36933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F7FF83-BEE8-A184-447F-D87379EED8DC}"/>
              </a:ext>
            </a:extLst>
          </p:cNvPr>
          <p:cNvSpPr txBox="1"/>
          <p:nvPr/>
        </p:nvSpPr>
        <p:spPr>
          <a:xfrm>
            <a:off x="840602" y="1599912"/>
            <a:ext cx="631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1</a:t>
            </a:r>
            <a:endParaRPr lang="ko-KR" altLang="en-US" sz="32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9536DA-413B-AC27-CB8E-5BC0CF7B880C}"/>
              </a:ext>
            </a:extLst>
          </p:cNvPr>
          <p:cNvSpPr txBox="1"/>
          <p:nvPr/>
        </p:nvSpPr>
        <p:spPr>
          <a:xfrm>
            <a:off x="2889595" y="1973038"/>
            <a:ext cx="631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2</a:t>
            </a:r>
            <a:endParaRPr lang="ko-KR" altLang="en-US" sz="32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F0216F-237A-FD26-7E6B-1080955D3757}"/>
              </a:ext>
            </a:extLst>
          </p:cNvPr>
          <p:cNvSpPr txBox="1"/>
          <p:nvPr/>
        </p:nvSpPr>
        <p:spPr>
          <a:xfrm>
            <a:off x="645012" y="5451488"/>
            <a:ext cx="631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3</a:t>
            </a:r>
            <a:endParaRPr lang="ko-KR" altLang="en-US" sz="3200" b="1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0934000-2102-BC39-C93C-A8C18689F9C5}"/>
              </a:ext>
            </a:extLst>
          </p:cNvPr>
          <p:cNvSpPr/>
          <p:nvPr/>
        </p:nvSpPr>
        <p:spPr>
          <a:xfrm>
            <a:off x="9792182" y="6319777"/>
            <a:ext cx="2303362" cy="4281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3085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C179DC-2C88-556D-416E-B6B361678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B55EE341-246C-151C-68DC-45C65D7D71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A71408D3-A4CD-1891-178C-71ECD769800F}"/>
              </a:ext>
            </a:extLst>
          </p:cNvPr>
          <p:cNvGrpSpPr/>
          <p:nvPr/>
        </p:nvGrpSpPr>
        <p:grpSpPr>
          <a:xfrm>
            <a:off x="6842540" y="963717"/>
            <a:ext cx="5374105" cy="4483771"/>
            <a:chOff x="6817895" y="310803"/>
            <a:chExt cx="5374105" cy="448377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0E23917-7B71-52EF-A32A-A43A66D0FE42}"/>
                </a:ext>
              </a:extLst>
            </p:cNvPr>
            <p:cNvSpPr txBox="1"/>
            <p:nvPr/>
          </p:nvSpPr>
          <p:spPr>
            <a:xfrm>
              <a:off x="6817895" y="310803"/>
              <a:ext cx="1478290" cy="31547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rtlCol="0" anchor="t">
              <a:spAutoFit/>
            </a:bodyPr>
            <a:lstStyle/>
            <a:p>
              <a:r>
                <a:rPr lang="en-US" altLang="ko-KR" sz="19900" b="1" dirty="0">
                  <a:latin typeface="+mj-ea"/>
                  <a:ea typeface="+mj-ea"/>
                </a:rPr>
                <a:t>4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0C3FFC1-C198-1CD3-E667-7F9ED8AC38EB}"/>
                </a:ext>
              </a:extLst>
            </p:cNvPr>
            <p:cNvSpPr txBox="1"/>
            <p:nvPr/>
          </p:nvSpPr>
          <p:spPr>
            <a:xfrm>
              <a:off x="6817895" y="2771662"/>
              <a:ext cx="3443571" cy="15696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rtlCol="0" anchor="t">
              <a:spAutoFit/>
            </a:bodyPr>
            <a:lstStyle/>
            <a:p>
              <a:r>
                <a:rPr lang="ko-KR" altLang="en-US" sz="4800" b="1" spc="-300" dirty="0">
                  <a:latin typeface="+mn-ea"/>
                </a:rPr>
                <a:t>사용된 API 및</a:t>
              </a:r>
              <a:endParaRPr lang="ko-KR" dirty="0"/>
            </a:p>
            <a:p>
              <a:r>
                <a:rPr lang="ko-KR" altLang="en-US" sz="4800" b="1" spc="-300" dirty="0">
                  <a:latin typeface="+mn-ea"/>
                </a:rPr>
                <a:t> 오픈소스</a:t>
              </a:r>
              <a:endParaRPr lang="ko-KR" dirty="0"/>
            </a:p>
          </p:txBody>
        </p: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23B4AC5B-4FFB-59BC-FF18-FD0DD2BF5585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545921"/>
              <a:ext cx="5374105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FF886B91-A017-BB7E-DC55-6CCFC4F131E0}"/>
                </a:ext>
              </a:extLst>
            </p:cNvPr>
            <p:cNvCxnSpPr>
              <a:cxnSpLocks/>
            </p:cNvCxnSpPr>
            <p:nvPr/>
          </p:nvCxnSpPr>
          <p:spPr>
            <a:xfrm>
              <a:off x="6817895" y="4794574"/>
              <a:ext cx="5374105" cy="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66553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204402-A748-B077-FFAD-EB26FC026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1A3D6A71-53DD-CA88-BBFE-2C9C58BD31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539DCE2-8085-04FC-1300-70D993558F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874813"/>
              </p:ext>
            </p:extLst>
          </p:nvPr>
        </p:nvGraphicFramePr>
        <p:xfrm>
          <a:off x="659756" y="1307939"/>
          <a:ext cx="11014139" cy="13835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6713">
                  <a:extLst>
                    <a:ext uri="{9D8B030D-6E8A-4147-A177-3AD203B41FA5}">
                      <a16:colId xmlns:a16="http://schemas.microsoft.com/office/drawing/2014/main" val="3848214232"/>
                    </a:ext>
                  </a:extLst>
                </a:gridCol>
                <a:gridCol w="3245303">
                  <a:extLst>
                    <a:ext uri="{9D8B030D-6E8A-4147-A177-3AD203B41FA5}">
                      <a16:colId xmlns:a16="http://schemas.microsoft.com/office/drawing/2014/main" val="2025165887"/>
                    </a:ext>
                  </a:extLst>
                </a:gridCol>
                <a:gridCol w="3245303">
                  <a:extLst>
                    <a:ext uri="{9D8B030D-6E8A-4147-A177-3AD203B41FA5}">
                      <a16:colId xmlns:a16="http://schemas.microsoft.com/office/drawing/2014/main" val="3543146921"/>
                    </a:ext>
                  </a:extLst>
                </a:gridCol>
                <a:gridCol w="1956820">
                  <a:extLst>
                    <a:ext uri="{9D8B030D-6E8A-4147-A177-3AD203B41FA5}">
                      <a16:colId xmlns:a16="http://schemas.microsoft.com/office/drawing/2014/main" val="4111557255"/>
                    </a:ext>
                  </a:extLst>
                </a:gridCol>
              </a:tblGrid>
              <a:tr h="3319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dirty="0" err="1"/>
                        <a:t>Api</a:t>
                      </a:r>
                      <a:r>
                        <a:rPr lang="ko-KR" altLang="en-US" sz="900" b="1" dirty="0"/>
                        <a:t> 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설명 </a:t>
                      </a:r>
                      <a:endParaRPr lang="ko-KR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900" b="1" err="1"/>
                        <a:t>Url</a:t>
                      </a:r>
                      <a:endParaRPr lang="ko-KR" altLang="en-US" sz="900" b="1" dirty="0" err="1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4">
                      <a:solidFill>
                        <a:schemeClr val="bg1">
                          <a:lumMod val="50000"/>
                        </a:schemeClr>
                      </a:solidFill>
                    </a:lnR>
                    <a:lnT w="3174">
                      <a:solidFill>
                        <a:schemeClr val="bg1">
                          <a:lumMod val="50000"/>
                        </a:schemeClr>
                      </a:solidFill>
                    </a:lnT>
                    <a:lnB w="3174">
                      <a:solidFill>
                        <a:schemeClr val="bg1">
                          <a:lumMod val="50000"/>
                        </a:schemeClr>
                      </a:solidFill>
                    </a:lnB>
                    <a:solidFill>
                      <a:srgbClr val="FADEB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작성자</a:t>
                      </a:r>
                      <a:endParaRPr lang="ko-KR"/>
                    </a:p>
                  </a:txBody>
                  <a:tcPr anchor="ctr">
                    <a:lnL w="3174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51040"/>
                  </a:ext>
                </a:extLst>
              </a:tr>
              <a:tr h="3319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err="1">
                          <a:solidFill>
                            <a:schemeClr val="tx1"/>
                          </a:solidFill>
                        </a:rPr>
                        <a:t>만개의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1" err="1">
                          <a:solidFill>
                            <a:schemeClr val="tx1"/>
                          </a:solidFill>
                        </a:rPr>
                        <a:t>레시피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1" err="1">
                          <a:solidFill>
                            <a:schemeClr val="tx1"/>
                          </a:solidFill>
                        </a:rPr>
                        <a:t>api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200" dirty="0"/>
                        <a:t>만개의 레시피 기업측에서 제공해주는 레시피 </a:t>
                      </a:r>
                      <a:r>
                        <a:rPr lang="ko-KR" altLang="en-US" sz="1200" err="1"/>
                        <a:t>api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0" i="0" u="none" strike="noStrike" noProof="0" dirty="0">
                          <a:solidFill>
                            <a:srgbClr val="CE9178"/>
                          </a:solidFill>
                          <a:latin typeface="Consolas"/>
                          <a:hlinkClick r:id="rId2"/>
                        </a:rPr>
                        <a:t>http://openapi.foodsafetykorea.go.kr/api/</a:t>
                      </a:r>
                      <a:r>
                        <a:rPr lang="ko-KR" sz="1100" b="0" i="0" u="none" strike="noStrike" noProof="0" dirty="0">
                          <a:solidFill>
                            <a:srgbClr val="569CD6"/>
                          </a:solidFill>
                          <a:latin typeface="Consolas"/>
                          <a:hlinkClick r:id="rId2"/>
                        </a:rPr>
                        <a:t>${</a:t>
                      </a:r>
                      <a:r>
                        <a:rPr lang="ko-KR" sz="1100" b="0" i="0" u="none" strike="noStrike" noProof="0" dirty="0">
                          <a:solidFill>
                            <a:srgbClr val="9CDCFE"/>
                          </a:solidFill>
                          <a:latin typeface="Consolas"/>
                          <a:hlinkClick r:id="rId2"/>
                        </a:rPr>
                        <a:t>api_key</a:t>
                      </a:r>
                      <a:r>
                        <a:rPr lang="ko-KR" sz="1100" b="0" i="0" u="none" strike="noStrike" noProof="0" dirty="0">
                          <a:solidFill>
                            <a:srgbClr val="569CD6"/>
                          </a:solidFill>
                          <a:latin typeface="Consolas"/>
                          <a:hlinkClick r:id="rId2"/>
                        </a:rPr>
                        <a:t>}</a:t>
                      </a:r>
                      <a:r>
                        <a:rPr lang="ko-KR" sz="1100" b="0" i="0" u="none" strike="noStrike" noProof="0" dirty="0">
                          <a:solidFill>
                            <a:srgbClr val="CE9178"/>
                          </a:solidFill>
                          <a:latin typeface="Consolas"/>
                          <a:hlinkClick r:id="rId2"/>
                        </a:rPr>
                        <a:t>/COOKRCP01/json/1/30/</a:t>
                      </a:r>
                      <a:endParaRPr lang="ko-KR" sz="1100" b="0" i="0" u="none" strike="noStrike" noProof="0" dirty="0">
                        <a:solidFill>
                          <a:srgbClr val="569CD6"/>
                        </a:solidFill>
                        <a:latin typeface="Consola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">
                      <a:solidFill>
                        <a:schemeClr val="bg1">
                          <a:lumMod val="50000"/>
                        </a:schemeClr>
                      </a:solidFill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강민경</a:t>
                      </a:r>
                      <a:endParaRPr lang="ko-KR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993860"/>
                  </a:ext>
                </a:extLst>
              </a:tr>
              <a:tr h="331957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noProof="0" dirty="0">
                          <a:solidFill>
                            <a:schemeClr val="tx1"/>
                          </a:solidFill>
                          <a:latin typeface="Pretendard"/>
                        </a:rPr>
                        <a:t>gemini-2.5-flash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Pretendard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ko-KR" altLang="en-US" sz="1200" dirty="0"/>
                        <a:t>제미나이 무료 </a:t>
                      </a:r>
                      <a:r>
                        <a:rPr lang="ko-KR" altLang="en-US" sz="1200" err="1"/>
                        <a:t>api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0" i="0" u="none" strike="noStrike" noProof="0" dirty="0">
                          <a:solidFill>
                            <a:srgbClr val="CE9178"/>
                          </a:solidFill>
                          <a:latin typeface="Consolas"/>
                          <a:hlinkClick r:id="rId3"/>
                        </a:rPr>
                        <a:t>https://generativelanguage.googleapis.com/v1beta/models/</a:t>
                      </a:r>
                      <a:r>
                        <a:rPr lang="ko-KR" sz="1100" b="0" i="0" u="none" strike="noStrike" noProof="0" dirty="0">
                          <a:solidFill>
                            <a:srgbClr val="569CD6"/>
                          </a:solidFill>
                          <a:latin typeface="Consolas"/>
                          <a:hlinkClick r:id="rId3"/>
                        </a:rPr>
                        <a:t>${</a:t>
                      </a:r>
                      <a:r>
                        <a:rPr lang="ko-KR" sz="1100" b="0" i="0" u="none" strike="noStrike" noProof="0" dirty="0">
                          <a:solidFill>
                            <a:srgbClr val="4FC1FF"/>
                          </a:solidFill>
                          <a:latin typeface="Consolas"/>
                          <a:hlinkClick r:id="rId3"/>
                        </a:rPr>
                        <a:t>MODEL_NAME</a:t>
                      </a:r>
                      <a:r>
                        <a:rPr lang="ko-KR" sz="1100" b="0" i="0" u="none" strike="noStrike" noProof="0" dirty="0">
                          <a:solidFill>
                            <a:srgbClr val="569CD6"/>
                          </a:solidFill>
                          <a:latin typeface="Consolas"/>
                          <a:hlinkClick r:id="rId3"/>
                        </a:rPr>
                        <a:t>}</a:t>
                      </a:r>
                      <a:r>
                        <a:rPr lang="ko-KR" sz="1100" b="0" i="0" u="none" strike="noStrike" noProof="0" dirty="0">
                          <a:solidFill>
                            <a:srgbClr val="CE9178"/>
                          </a:solidFill>
                          <a:latin typeface="Consolas"/>
                          <a:hlinkClick r:id="rId3"/>
                        </a:rPr>
                        <a:t>:streamGenerateContent?key=</a:t>
                      </a:r>
                      <a:r>
                        <a:rPr lang="ko-KR" sz="1100" b="0" i="0" u="none" strike="noStrike" noProof="0" dirty="0">
                          <a:solidFill>
                            <a:srgbClr val="569CD6"/>
                          </a:solidFill>
                          <a:latin typeface="Consolas"/>
                          <a:hlinkClick r:id="rId3"/>
                        </a:rPr>
                        <a:t>${</a:t>
                      </a:r>
                      <a:r>
                        <a:rPr lang="ko-KR" sz="1100" b="0" i="0" u="none" strike="noStrike" noProof="0" dirty="0">
                          <a:solidFill>
                            <a:srgbClr val="4FC1FF"/>
                          </a:solidFill>
                          <a:latin typeface="Consolas"/>
                          <a:hlinkClick r:id="rId3"/>
                        </a:rPr>
                        <a:t>API_KEY</a:t>
                      </a:r>
                      <a:r>
                        <a:rPr lang="ko-KR" sz="1100" b="0" i="0" u="none" strike="noStrike" noProof="0" dirty="0">
                          <a:solidFill>
                            <a:srgbClr val="569CD6"/>
                          </a:solidFill>
                          <a:latin typeface="Consolas"/>
                        </a:rPr>
                        <a:t>}</a:t>
                      </a:r>
                      <a:endParaRPr lang="ko-KR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강민경</a:t>
                      </a:r>
                      <a:endParaRPr lang="ko-KR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62625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4CA6D41-1406-D941-A9D2-B0776F6C880D}"/>
              </a:ext>
            </a:extLst>
          </p:cNvPr>
          <p:cNvSpPr txBox="1"/>
          <p:nvPr/>
        </p:nvSpPr>
        <p:spPr>
          <a:xfrm flipH="1">
            <a:off x="133496" y="164386"/>
            <a:ext cx="647841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sz="4800" b="1" spc="-300" dirty="0">
                <a:ea typeface="+mn-lt"/>
                <a:cs typeface="+mn-lt"/>
              </a:rPr>
              <a:t>사용된 API</a:t>
            </a:r>
            <a:endParaRPr lang="ko-KR" sz="4800" spc="-300" dirty="0">
              <a:ea typeface="+mn-lt"/>
              <a:cs typeface="+mn-lt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951374D-0C99-E38D-47DC-5065138E0879}"/>
              </a:ext>
            </a:extLst>
          </p:cNvPr>
          <p:cNvCxnSpPr>
            <a:cxnSpLocks/>
          </p:cNvCxnSpPr>
          <p:nvPr/>
        </p:nvCxnSpPr>
        <p:spPr>
          <a:xfrm>
            <a:off x="133496" y="1211714"/>
            <a:ext cx="11700000" cy="0"/>
          </a:xfrm>
          <a:prstGeom prst="line">
            <a:avLst/>
          </a:prstGeom>
          <a:ln w="3175"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2">
            <a:extLst>
              <a:ext uri="{FF2B5EF4-FFF2-40B4-BE49-F238E27FC236}">
                <a16:creationId xmlns:a16="http://schemas.microsoft.com/office/drawing/2014/main" id="{60AD4938-E8C3-72F7-1AA3-82D356593BB6}"/>
              </a:ext>
            </a:extLst>
          </p:cNvPr>
          <p:cNvSpPr txBox="1"/>
          <p:nvPr/>
        </p:nvSpPr>
        <p:spPr>
          <a:xfrm flipH="1">
            <a:off x="72535" y="2826305"/>
            <a:ext cx="647841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sz="4800" b="1" spc="-300" dirty="0">
                <a:ea typeface="+mn-lt"/>
                <a:cs typeface="+mn-lt"/>
              </a:rPr>
              <a:t>사용된 </a:t>
            </a:r>
            <a:r>
              <a:rPr lang="ko-KR" altLang="en-US" sz="4800" b="1" spc="-300" dirty="0">
                <a:ea typeface="+mn-lt"/>
                <a:cs typeface="+mn-lt"/>
              </a:rPr>
              <a:t>오픈소스</a:t>
            </a:r>
            <a:endParaRPr lang="en-US" altLang="ko-KR" sz="4800" b="1" spc="-300" dirty="0">
              <a:ea typeface="+mn-lt"/>
              <a:cs typeface="+mn-lt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EF14A88-E127-389A-1C70-43EE68755717}"/>
              </a:ext>
            </a:extLst>
          </p:cNvPr>
          <p:cNvCxnSpPr>
            <a:cxnSpLocks/>
          </p:cNvCxnSpPr>
          <p:nvPr/>
        </p:nvCxnSpPr>
        <p:spPr>
          <a:xfrm>
            <a:off x="72535" y="3873634"/>
            <a:ext cx="11700000" cy="0"/>
          </a:xfrm>
          <a:prstGeom prst="line">
            <a:avLst/>
          </a:prstGeom>
          <a:ln w="3175">
            <a:solidFill>
              <a:srgbClr val="224D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686F92F-88C5-6809-270B-F69407D88F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24658"/>
              </p:ext>
            </p:extLst>
          </p:nvPr>
        </p:nvGraphicFramePr>
        <p:xfrm>
          <a:off x="661035" y="4360513"/>
          <a:ext cx="10991850" cy="77089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62225">
                  <a:extLst>
                    <a:ext uri="{9D8B030D-6E8A-4147-A177-3AD203B41FA5}">
                      <a16:colId xmlns:a16="http://schemas.microsoft.com/office/drawing/2014/main" val="3189870504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289666946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651707572"/>
                    </a:ext>
                  </a:extLst>
                </a:gridCol>
                <a:gridCol w="1952625">
                  <a:extLst>
                    <a:ext uri="{9D8B030D-6E8A-4147-A177-3AD203B41FA5}">
                      <a16:colId xmlns:a16="http://schemas.microsoft.com/office/drawing/2014/main" val="2182895674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050"/>
                        </a:lnSpc>
                        <a:buNone/>
                      </a:pPr>
                      <a:r>
                        <a:rPr lang="ko-KR" altLang="en-US" sz="900" b="1" i="0" dirty="0">
                          <a:solidFill>
                            <a:srgbClr val="000000"/>
                          </a:solidFill>
                          <a:effectLst/>
                        </a:rPr>
                        <a:t>이름</a:t>
                      </a:r>
                      <a:endParaRPr lang="ko-KR" alt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050"/>
                        </a:lnSpc>
                        <a:buNone/>
                      </a:pPr>
                      <a:r>
                        <a:rPr lang="ko-KR" altLang="en-US" sz="900" b="1" i="0" dirty="0">
                          <a:solidFill>
                            <a:srgbClr val="000000"/>
                          </a:solidFill>
                          <a:effectLst/>
                          <a:ea typeface="Pretendard"/>
                        </a:rPr>
                        <a:t>설명 </a:t>
                      </a:r>
                      <a:endParaRPr lang="ko-KR" alt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050"/>
                        </a:lnSpc>
                        <a:buNone/>
                      </a:pPr>
                      <a:r>
                        <a:rPr lang="af-ZA" altLang="ko-KR" sz="900" b="1" i="0" dirty="0" err="1">
                          <a:solidFill>
                            <a:srgbClr val="000000"/>
                          </a:solidFill>
                          <a:effectLst/>
                          <a:ea typeface="Pretendard"/>
                        </a:rPr>
                        <a:t>Url</a:t>
                      </a:r>
                      <a:endParaRPr lang="af-ZA" altLang="ko-KR" b="0" i="0" dirty="0" err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050"/>
                        </a:lnSpc>
                        <a:buNone/>
                      </a:pPr>
                      <a:r>
                        <a:rPr lang="ko-KR" altLang="en-US" sz="900" b="1" i="0" dirty="0">
                          <a:solidFill>
                            <a:srgbClr val="000000"/>
                          </a:solidFill>
                          <a:effectLst/>
                          <a:ea typeface="Pretendard"/>
                        </a:rPr>
                        <a:t>작성자</a:t>
                      </a:r>
                      <a:endParaRPr lang="ko-KR" alt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DE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457935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ko-KR" altLang="en-US" sz="1200" b="1" i="0">
                          <a:solidFill>
                            <a:srgbClr val="000000"/>
                          </a:solidFill>
                          <a:effectLst/>
                          <a:latin typeface="Pretendard"/>
                        </a:rPr>
                        <a:t>우편번호 및 주소 검색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ko-KR" altLang="en-US" sz="1200" b="0" i="0" dirty="0">
                          <a:solidFill>
                            <a:srgbClr val="000000"/>
                          </a:solidFill>
                          <a:effectLst/>
                          <a:ea typeface="Pretendard"/>
                        </a:rPr>
                        <a:t>주소 검색 후 해당하는 우편번호, 주소지 등을 받아올 수 있는 </a:t>
                      </a:r>
                      <a:r>
                        <a:rPr lang="ko-KR" altLang="en-US" sz="1200" b="0" i="0" dirty="0" err="1">
                          <a:solidFill>
                            <a:srgbClr val="000000"/>
                          </a:solidFill>
                          <a:effectLst/>
                          <a:ea typeface="Pretendard"/>
                        </a:rPr>
                        <a:t>js</a:t>
                      </a:r>
                      <a:endParaRPr lang="ko-KR" altLang="en-US" sz="1200" b="0" i="0" dirty="0" err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f-ZA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onsolas"/>
                        </a:rPr>
                        <a:t>//t1.daumcdn.net/</a:t>
                      </a:r>
                      <a:r>
                        <a:rPr lang="af-ZA" sz="1100" b="0" i="0" u="none" strike="noStrike" noProof="0" err="1">
                          <a:solidFill>
                            <a:schemeClr val="tx1"/>
                          </a:solidFill>
                          <a:effectLst/>
                          <a:latin typeface="Consolas"/>
                        </a:rPr>
                        <a:t>mapjsapi</a:t>
                      </a:r>
                      <a:r>
                        <a:rPr lang="af-ZA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onsolas"/>
                        </a:rPr>
                        <a:t>/</a:t>
                      </a:r>
                      <a:r>
                        <a:rPr lang="af-ZA" sz="1100" b="0" i="0" u="none" strike="noStrike" noProof="0" err="1">
                          <a:solidFill>
                            <a:schemeClr val="tx1"/>
                          </a:solidFill>
                          <a:effectLst/>
                          <a:latin typeface="Consolas"/>
                        </a:rPr>
                        <a:t>bundle</a:t>
                      </a:r>
                      <a:r>
                        <a:rPr lang="af-ZA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onsolas"/>
                        </a:rPr>
                        <a:t>/</a:t>
                      </a:r>
                      <a:r>
                        <a:rPr lang="af-ZA" sz="1100" b="0" i="0" u="none" strike="noStrike" noProof="0" err="1">
                          <a:solidFill>
                            <a:schemeClr val="tx1"/>
                          </a:solidFill>
                          <a:effectLst/>
                          <a:latin typeface="Consolas"/>
                        </a:rPr>
                        <a:t>postcode</a:t>
                      </a:r>
                      <a:r>
                        <a:rPr lang="af-ZA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onsolas"/>
                        </a:rPr>
                        <a:t>/</a:t>
                      </a:r>
                      <a:r>
                        <a:rPr lang="af-ZA" sz="1100" b="0" i="0" u="none" strike="noStrike" noProof="0" err="1">
                          <a:solidFill>
                            <a:schemeClr val="tx1"/>
                          </a:solidFill>
                          <a:effectLst/>
                          <a:latin typeface="Consolas"/>
                        </a:rPr>
                        <a:t>prod</a:t>
                      </a:r>
                      <a:r>
                        <a:rPr lang="af-ZA" sz="11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onsolas"/>
                        </a:rPr>
                        <a:t>/postcode.v2.js</a:t>
                      </a:r>
                      <a:endParaRPr lang="ko-KR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425"/>
                        </a:lnSpc>
                        <a:buNone/>
                      </a:pPr>
                      <a:r>
                        <a:rPr lang="ko-KR" altLang="en-US" sz="1200" b="0" i="0" dirty="0">
                          <a:solidFill>
                            <a:srgbClr val="000000"/>
                          </a:solidFill>
                          <a:effectLst/>
                          <a:ea typeface="Pretendard"/>
                        </a:rPr>
                        <a:t>강민경</a:t>
                      </a:r>
                      <a:endParaRPr lang="ko-KR" alt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23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12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_008_10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24D60"/>
      </a:accent1>
      <a:accent2>
        <a:srgbClr val="006182"/>
      </a:accent2>
      <a:accent3>
        <a:srgbClr val="4E849C"/>
      </a:accent3>
      <a:accent4>
        <a:srgbClr val="DCDBD9"/>
      </a:accent4>
      <a:accent5>
        <a:srgbClr val="3B626E"/>
      </a:accent5>
      <a:accent6>
        <a:srgbClr val="27383E"/>
      </a:accent6>
      <a:hlink>
        <a:srgbClr val="3F3F3F"/>
      </a:hlink>
      <a:folHlink>
        <a:srgbClr val="3F3F3F"/>
      </a:folHlink>
    </a:clrScheme>
    <a:fontScheme name="Pretendard_Black_standard">
      <a:majorFont>
        <a:latin typeface="Pretendard Black"/>
        <a:ea typeface="Pretendard Black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981</Words>
  <Application>Microsoft Office PowerPoint</Application>
  <PresentationFormat>와이드스크린</PresentationFormat>
  <Paragraphs>307</Paragraphs>
  <Slides>15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Pretendard</vt:lpstr>
      <vt:lpstr>Pretendard Black</vt:lpstr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sarah5028@naver.com</cp:lastModifiedBy>
  <cp:revision>103</cp:revision>
  <dcterms:created xsi:type="dcterms:W3CDTF">2022-08-03T01:14:38Z</dcterms:created>
  <dcterms:modified xsi:type="dcterms:W3CDTF">2025-10-26T05:50:12Z</dcterms:modified>
</cp:coreProperties>
</file>